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825ce2be2428f" /><Relationship Type="http://schemas.openxmlformats.org/officeDocument/2006/relationships/extended-properties" Target="/docProps/app.xml" Id="Rf3a669b68dbb4261" /><Relationship Type="http://schemas.openxmlformats.org/officeDocument/2006/relationships/officeDocument" Target="/ppt/presentation.xml" Id="Rf87935d6371644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da29ec007409c"/>
  </p:sldMasterIdLst>
  <p:notesMasterIdLst>
    <p:notesMasterId xmlns:r="http://schemas.openxmlformats.org/officeDocument/2006/relationships" r:id="R667ac82795a14282"/>
  </p:notesMasterIdLst>
  <p:sldIdLst>
    <p:sldId xmlns:r="http://schemas.openxmlformats.org/officeDocument/2006/relationships" id="256" r:id="R157069cce62742e3"/>
    <p:sldId xmlns:r="http://schemas.openxmlformats.org/officeDocument/2006/relationships" id="257" r:id="R58395204701949eb"/>
    <p:sldId xmlns:r="http://schemas.openxmlformats.org/officeDocument/2006/relationships" id="258" r:id="Rfbc145dbb6c34c7c"/>
    <p:sldId xmlns:r="http://schemas.openxmlformats.org/officeDocument/2006/relationships" id="259" r:id="Rad04221b15754f37"/>
    <p:sldId xmlns:r="http://schemas.openxmlformats.org/officeDocument/2006/relationships" id="260" r:id="R3bdcda4ae627436d"/>
    <p:sldId xmlns:r="http://schemas.openxmlformats.org/officeDocument/2006/relationships" id="261" r:id="R389034ee6bfa43ce"/>
    <p:sldId xmlns:r="http://schemas.openxmlformats.org/officeDocument/2006/relationships" id="262" r:id="R8d18adf498234cfe"/>
    <p:sldId xmlns:r="http://schemas.openxmlformats.org/officeDocument/2006/relationships" id="263" r:id="Refdca2715e1c4301"/>
    <p:sldId xmlns:r="http://schemas.openxmlformats.org/officeDocument/2006/relationships" id="264" r:id="R9d9b703fd4ed43c9"/>
    <p:sldId xmlns:r="http://schemas.openxmlformats.org/officeDocument/2006/relationships" id="265" r:id="R9b3f1ba5dcbf4ad6"/>
    <p:sldId xmlns:r="http://schemas.openxmlformats.org/officeDocument/2006/relationships" id="266" r:id="R389eec62208c4554"/>
    <p:sldId xmlns:r="http://schemas.openxmlformats.org/officeDocument/2006/relationships" id="267" r:id="R54bcb0cb25384775"/>
    <p:sldId xmlns:r="http://schemas.openxmlformats.org/officeDocument/2006/relationships" id="268" r:id="Ra093ab95a8e04daf"/>
    <p:sldId xmlns:r="http://schemas.openxmlformats.org/officeDocument/2006/relationships" id="269" r:id="Re620fa0a93064aa4"/>
    <p:sldId xmlns:r="http://schemas.openxmlformats.org/officeDocument/2006/relationships" id="270" r:id="Ree6d64b23fc44eb4"/>
    <p:sldId xmlns:r="http://schemas.openxmlformats.org/officeDocument/2006/relationships" id="271" r:id="Rf4f764d4d4b1446a"/>
    <p:sldId xmlns:r="http://schemas.openxmlformats.org/officeDocument/2006/relationships" id="272" r:id="R9804ac95c4884d08"/>
    <p:sldId xmlns:r="http://schemas.openxmlformats.org/officeDocument/2006/relationships" id="273" r:id="R3b9c7c1d2d8a4c7f"/>
    <p:sldId xmlns:r="http://schemas.openxmlformats.org/officeDocument/2006/relationships" id="274" r:id="Rb23a70c536854b69"/>
    <p:sldId xmlns:r="http://schemas.openxmlformats.org/officeDocument/2006/relationships" id="275" r:id="Rc09c24445e7a4df0"/>
    <p:sldId xmlns:r="http://schemas.openxmlformats.org/officeDocument/2006/relationships" id="276" r:id="Rcb179a018c8f4b5b"/>
    <p:sldId xmlns:r="http://schemas.openxmlformats.org/officeDocument/2006/relationships" id="277" r:id="R36a5c32344934547"/>
    <p:sldId xmlns:r="http://schemas.openxmlformats.org/officeDocument/2006/relationships" id="278" r:id="Rb5221e1188ef4111"/>
    <p:sldId xmlns:r="http://schemas.openxmlformats.org/officeDocument/2006/relationships" id="279" r:id="R6e1828b2ceb44390"/>
    <p:sldId xmlns:r="http://schemas.openxmlformats.org/officeDocument/2006/relationships" id="280" r:id="R0ccb14e5d3004dc3"/>
    <p:sldId xmlns:r="http://schemas.openxmlformats.org/officeDocument/2006/relationships" id="281" r:id="R0871a8cbdf3348d1"/>
    <p:sldId xmlns:r="http://schemas.openxmlformats.org/officeDocument/2006/relationships" id="282" r:id="R6d775adee26c4af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da29ec007409c" /><Relationship Type="http://schemas.openxmlformats.org/officeDocument/2006/relationships/theme" Target="/ppt/theme/theme1.xml" Id="R242cdf0ae8fc4da6" /><Relationship Type="http://schemas.openxmlformats.org/officeDocument/2006/relationships/notesMaster" Target="/ppt/notesMasters/notesMaster1.xml" Id="R667ac82795a14282" /><Relationship Type="http://schemas.openxmlformats.org/officeDocument/2006/relationships/presProps" Target="/ppt/presProps.xml" Id="R30e62e9fbe324fb2" /><Relationship Type="http://schemas.openxmlformats.org/officeDocument/2006/relationships/viewProps" Target="/ppt/viewProps.xml" Id="Ra47e69cb7e0b474a" /><Relationship Type="http://schemas.openxmlformats.org/officeDocument/2006/relationships/tableStyles" Target="/ppt/tableStyles.xml" Id="Rf3c4a065eb164a07" /><Relationship Type="http://schemas.openxmlformats.org/officeDocument/2006/relationships/slide" Target="/ppt/slides/slide1.xml" Id="R157069cce62742e3" /><Relationship Type="http://schemas.openxmlformats.org/officeDocument/2006/relationships/slide" Target="/ppt/slides/slide2.xml" Id="R58395204701949eb" /><Relationship Type="http://schemas.openxmlformats.org/officeDocument/2006/relationships/slide" Target="/ppt/slides/slide3.xml" Id="Rfbc145dbb6c34c7c" /><Relationship Type="http://schemas.openxmlformats.org/officeDocument/2006/relationships/slide" Target="/ppt/slides/slide4.xml" Id="Rad04221b15754f37" /><Relationship Type="http://schemas.openxmlformats.org/officeDocument/2006/relationships/slide" Target="/ppt/slides/slide5.xml" Id="R3bdcda4ae627436d" /><Relationship Type="http://schemas.openxmlformats.org/officeDocument/2006/relationships/slide" Target="/ppt/slides/slide6.xml" Id="R389034ee6bfa43ce" /><Relationship Type="http://schemas.openxmlformats.org/officeDocument/2006/relationships/slide" Target="/ppt/slides/slide7.xml" Id="R8d18adf498234cfe" /><Relationship Type="http://schemas.openxmlformats.org/officeDocument/2006/relationships/slide" Target="/ppt/slides/slide8.xml" Id="Refdca2715e1c4301" /><Relationship Type="http://schemas.openxmlformats.org/officeDocument/2006/relationships/slide" Target="/ppt/slides/slide9.xml" Id="R9d9b703fd4ed43c9" /><Relationship Type="http://schemas.openxmlformats.org/officeDocument/2006/relationships/slide" Target="/ppt/slides/slide10.xml" Id="R9b3f1ba5dcbf4ad6" /><Relationship Type="http://schemas.openxmlformats.org/officeDocument/2006/relationships/slide" Target="/ppt/slides/slide11.xml" Id="R389eec62208c4554" /><Relationship Type="http://schemas.openxmlformats.org/officeDocument/2006/relationships/slide" Target="/ppt/slides/slide12.xml" Id="R54bcb0cb25384775" /><Relationship Type="http://schemas.openxmlformats.org/officeDocument/2006/relationships/slide" Target="/ppt/slides/slide13.xml" Id="Ra093ab95a8e04daf" /><Relationship Type="http://schemas.openxmlformats.org/officeDocument/2006/relationships/slide" Target="/ppt/slides/slide14.xml" Id="Re620fa0a93064aa4" /><Relationship Type="http://schemas.openxmlformats.org/officeDocument/2006/relationships/slide" Target="/ppt/slides/slide15.xml" Id="Ree6d64b23fc44eb4" /><Relationship Type="http://schemas.openxmlformats.org/officeDocument/2006/relationships/slide" Target="/ppt/slides/slide16.xml" Id="Rf4f764d4d4b1446a" /><Relationship Type="http://schemas.openxmlformats.org/officeDocument/2006/relationships/slide" Target="/ppt/slides/slide17.xml" Id="R9804ac95c4884d08" /><Relationship Type="http://schemas.openxmlformats.org/officeDocument/2006/relationships/slide" Target="/ppt/slides/slide18.xml" Id="R3b9c7c1d2d8a4c7f" /><Relationship Type="http://schemas.openxmlformats.org/officeDocument/2006/relationships/slide" Target="/ppt/slides/slide19.xml" Id="Rb23a70c536854b69" /><Relationship Type="http://schemas.openxmlformats.org/officeDocument/2006/relationships/slide" Target="/ppt/slides/slide20.xml" Id="Rc09c24445e7a4df0" /><Relationship Type="http://schemas.openxmlformats.org/officeDocument/2006/relationships/slide" Target="/ppt/slides/slide21.xml" Id="Rcb179a018c8f4b5b" /><Relationship Type="http://schemas.openxmlformats.org/officeDocument/2006/relationships/slide" Target="/ppt/slides/slide22.xml" Id="R36a5c32344934547" /><Relationship Type="http://schemas.openxmlformats.org/officeDocument/2006/relationships/slide" Target="/ppt/slides/slide23.xml" Id="Rb5221e1188ef4111" /><Relationship Type="http://schemas.openxmlformats.org/officeDocument/2006/relationships/slide" Target="/ppt/slides/slide24.xml" Id="R6e1828b2ceb44390" /><Relationship Type="http://schemas.openxmlformats.org/officeDocument/2006/relationships/slide" Target="/ppt/slides/slide25.xml" Id="R0ccb14e5d3004dc3" /><Relationship Type="http://schemas.openxmlformats.org/officeDocument/2006/relationships/slide" Target="/ppt/slides/slide26.xml" Id="R0871a8cbdf3348d1" /><Relationship Type="http://schemas.openxmlformats.org/officeDocument/2006/relationships/slide" Target="/ppt/slides/slide27.xml" Id="R6d775adee26c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8ae56df29b4e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ac0ecaf4d40ad" /><Relationship Type="http://schemas.openxmlformats.org/officeDocument/2006/relationships/notesMaster" Target="/ppt/notesMasters/notesMaster1.xml" Id="R1010eec46afe45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f4679d85944e16" /><Relationship Type="http://schemas.openxmlformats.org/officeDocument/2006/relationships/notesMaster" Target="/ppt/notesMasters/notesMaster1.xml" Id="R84cf88497455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319876368453a" /><Relationship Type="http://schemas.openxmlformats.org/officeDocument/2006/relationships/notesMaster" Target="/ppt/notesMasters/notesMaster1.xml" Id="R11f128f08aa049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a59a86782b4379" /><Relationship Type="http://schemas.openxmlformats.org/officeDocument/2006/relationships/notesMaster" Target="/ppt/notesMasters/notesMaster1.xml" Id="Rd754f7ab5a0240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9bb1089994b0e" /><Relationship Type="http://schemas.openxmlformats.org/officeDocument/2006/relationships/notesMaster" Target="/ppt/notesMasters/notesMaster1.xml" Id="R5beb8881621d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19a3f7ac44312" /><Relationship Type="http://schemas.openxmlformats.org/officeDocument/2006/relationships/notesMaster" Target="/ppt/notesMasters/notesMaster1.xml" Id="Rade78c578c9a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b5d851c8043a8" /><Relationship Type="http://schemas.openxmlformats.org/officeDocument/2006/relationships/notesMaster" Target="/ppt/notesMasters/notesMaster1.xml" Id="R4503aa950c06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a1c33879074869" /><Relationship Type="http://schemas.openxmlformats.org/officeDocument/2006/relationships/notesMaster" Target="/ppt/notesMasters/notesMaster1.xml" Id="R50929ffa9368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e571a8d4d545ad" /><Relationship Type="http://schemas.openxmlformats.org/officeDocument/2006/relationships/notesMaster" Target="/ppt/notesMasters/notesMaster1.xml" Id="R672e1ba913d343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5d99839508449e" /><Relationship Type="http://schemas.openxmlformats.org/officeDocument/2006/relationships/notesMaster" Target="/ppt/notesMasters/notesMaster1.xml" Id="Rf5892ceb1ee245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342d506ff546c7" /><Relationship Type="http://schemas.openxmlformats.org/officeDocument/2006/relationships/notesMaster" Target="/ppt/notesMasters/notesMaster1.xml" Id="R03c68da084ce49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9bf734665b4f5e" /><Relationship Type="http://schemas.openxmlformats.org/officeDocument/2006/relationships/notesMaster" Target="/ppt/notesMasters/notesMaster1.xml" Id="Rf97dee5e924547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c0d628ead6448c" /><Relationship Type="http://schemas.openxmlformats.org/officeDocument/2006/relationships/notesMaster" Target="/ppt/notesMasters/notesMaster1.xml" Id="R6bd79e710c8a4c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499210265d43f6" /><Relationship Type="http://schemas.openxmlformats.org/officeDocument/2006/relationships/notesMaster" Target="/ppt/notesMasters/notesMaster1.xml" Id="R31d8f5fc6c5d4a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19d331c4bf495a" /><Relationship Type="http://schemas.openxmlformats.org/officeDocument/2006/relationships/notesMaster" Target="/ppt/notesMasters/notesMaster1.xml" Id="R3118487a0ccc42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ab59cdcf294998" /><Relationship Type="http://schemas.openxmlformats.org/officeDocument/2006/relationships/notesMaster" Target="/ppt/notesMasters/notesMaster1.xml" Id="Rffddbf84444045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fcc70c63344efe" /><Relationship Type="http://schemas.openxmlformats.org/officeDocument/2006/relationships/notesMaster" Target="/ppt/notesMasters/notesMaster1.xml" Id="Rcb0c7df263fb44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cb1e18236242ec" /><Relationship Type="http://schemas.openxmlformats.org/officeDocument/2006/relationships/notesMaster" Target="/ppt/notesMasters/notesMaster1.xml" Id="R3d2a3659899145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84f9b35f4f4d03" /><Relationship Type="http://schemas.openxmlformats.org/officeDocument/2006/relationships/notesMaster" Target="/ppt/notesMasters/notesMaster1.xml" Id="R6d046fb7e4c045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814dc509e34da6" /><Relationship Type="http://schemas.openxmlformats.org/officeDocument/2006/relationships/notesMaster" Target="/ppt/notesMasters/notesMaster1.xml" Id="R1aaf91a96c4245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2ce012a0724079" /><Relationship Type="http://schemas.openxmlformats.org/officeDocument/2006/relationships/notesMaster" Target="/ppt/notesMasters/notesMaster1.xml" Id="R5ed0206627ac462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8e10441a7b40aa" /><Relationship Type="http://schemas.openxmlformats.org/officeDocument/2006/relationships/notesMaster" Target="/ppt/notesMasters/notesMaster1.xml" Id="R651a7ef5aa9b46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c1a84cc14b34fb3" /><Relationship Type="http://schemas.openxmlformats.org/officeDocument/2006/relationships/notesMaster" Target="/ppt/notesMasters/notesMaster1.xml" Id="R4a2940f2606144f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50e598d16342a3" /><Relationship Type="http://schemas.openxmlformats.org/officeDocument/2006/relationships/notesMaster" Target="/ppt/notesMasters/notesMaster1.xml" Id="R47010affbb9948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c4eae0e19734348" /><Relationship Type="http://schemas.openxmlformats.org/officeDocument/2006/relationships/notesMaster" Target="/ppt/notesMasters/notesMaster1.xml" Id="R905ab235e89e4b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a99fa9a4e44930" /><Relationship Type="http://schemas.openxmlformats.org/officeDocument/2006/relationships/notesMaster" Target="/ppt/notesMasters/notesMaster1.xml" Id="R132d4f2301dd40f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08a646ab8149c2" /><Relationship Type="http://schemas.openxmlformats.org/officeDocument/2006/relationships/notesMaster" Target="/ppt/notesMasters/notesMaster1.xml" Id="R691109d74a3541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49cab462744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a9f97b1fc5422e" /><Relationship Type="http://schemas.openxmlformats.org/officeDocument/2006/relationships/slideLayout" Target="/ppt/slideLayouts/slideLayout2.xml" Id="R9042ea637e6841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42ea637e6841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9c36ee8164355" /><Relationship Type="http://schemas.openxmlformats.org/officeDocument/2006/relationships/notesSlide" Target="/ppt/notesSlides/notesSlide1.xml" Id="Reced1d280614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095f99513c47a5" /><Relationship Type="http://schemas.openxmlformats.org/officeDocument/2006/relationships/notesSlide" Target="/ppt/notesSlides/notesSlide2.xml" Id="R051ea78b6bb7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c3d891c3704dfa" /><Relationship Type="http://schemas.openxmlformats.org/officeDocument/2006/relationships/notesSlide" Target="/ppt/notesSlides/notesSlide3.xml" Id="R7b45fcd70e69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54aa33f291454a" /><Relationship Type="http://schemas.openxmlformats.org/officeDocument/2006/relationships/notesSlide" Target="/ppt/notesSlides/notesSlide4.xml" Id="R5aa78a28fc90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b4671507254b63" /><Relationship Type="http://schemas.openxmlformats.org/officeDocument/2006/relationships/notesSlide" Target="/ppt/notesSlides/notesSlide5.xml" Id="R40f1cee4e1b0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daa02bb78e4d6e" /><Relationship Type="http://schemas.openxmlformats.org/officeDocument/2006/relationships/notesSlide" Target="/ppt/notesSlides/notesSlide6.xml" Id="Rd9f157397bb245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d3f971c9c4094" /><Relationship Type="http://schemas.openxmlformats.org/officeDocument/2006/relationships/notesSlide" Target="/ppt/notesSlides/notesSlide7.xml" Id="Re6356d2174dd4d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84dde450f4dfe" /><Relationship Type="http://schemas.openxmlformats.org/officeDocument/2006/relationships/notesSlide" Target="/ppt/notesSlides/notesSlide8.xml" Id="Rdaad613bb7c248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9b9b75fb94aad" /><Relationship Type="http://schemas.openxmlformats.org/officeDocument/2006/relationships/notesSlide" Target="/ppt/notesSlides/notesSlide9.xml" Id="R437ad0d59a5847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179041da64278" /><Relationship Type="http://schemas.openxmlformats.org/officeDocument/2006/relationships/notesSlide" Target="/ppt/notesSlides/notesSlide10.xml" Id="R2d9d5f67a58944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7b1114584944a0" /><Relationship Type="http://schemas.openxmlformats.org/officeDocument/2006/relationships/notesSlide" Target="/ppt/notesSlides/notesSlide11.xml" Id="R82350224861946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1658b382c94e0a" /><Relationship Type="http://schemas.openxmlformats.org/officeDocument/2006/relationships/notesSlide" Target="/ppt/notesSlides/notesSlide12.xml" Id="Rd06844fc0b38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009b18936449b8" /><Relationship Type="http://schemas.openxmlformats.org/officeDocument/2006/relationships/notesSlide" Target="/ppt/notesSlides/notesSlide13.xml" Id="R74c0c36841254d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5e44ca6b264158" /><Relationship Type="http://schemas.openxmlformats.org/officeDocument/2006/relationships/notesSlide" Target="/ppt/notesSlides/notesSlide14.xml" Id="Raca6ee68caf240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9da3ecae04ea6" /><Relationship Type="http://schemas.openxmlformats.org/officeDocument/2006/relationships/notesSlide" Target="/ppt/notesSlides/notesSlide15.xml" Id="R260de4d60df9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b1bee92d8449b" /><Relationship Type="http://schemas.openxmlformats.org/officeDocument/2006/relationships/notesSlide" Target="/ppt/notesSlides/notesSlide16.xml" Id="R9cbae421e0684d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b0670ca4c84044" /><Relationship Type="http://schemas.openxmlformats.org/officeDocument/2006/relationships/notesSlide" Target="/ppt/notesSlides/notesSlide17.xml" Id="R17f913ac6ef64e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285633112246da" /><Relationship Type="http://schemas.openxmlformats.org/officeDocument/2006/relationships/notesSlide" Target="/ppt/notesSlides/notesSlide18.xml" Id="R5dc20c8ffd3f4d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1ab5a61744236" /><Relationship Type="http://schemas.openxmlformats.org/officeDocument/2006/relationships/notesSlide" Target="/ppt/notesSlides/notesSlide19.xml" Id="Rd7d40a32d1b54a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f5358c2f54bf9" /><Relationship Type="http://schemas.openxmlformats.org/officeDocument/2006/relationships/notesSlide" Target="/ppt/notesSlides/notesSlide20.xml" Id="R2196be983d2544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ec9ae49394f16" /><Relationship Type="http://schemas.openxmlformats.org/officeDocument/2006/relationships/notesSlide" Target="/ppt/notesSlides/notesSlide21.xml" Id="Rbbb9d2266cbf4e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9597f95afc4aa4" /><Relationship Type="http://schemas.openxmlformats.org/officeDocument/2006/relationships/notesSlide" Target="/ppt/notesSlides/notesSlide22.xml" Id="R3d798a4ff47644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01ff4d757b4269" /><Relationship Type="http://schemas.openxmlformats.org/officeDocument/2006/relationships/notesSlide" Target="/ppt/notesSlides/notesSlide23.xml" Id="Rd63b927a8e7540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8c2e319b5842e4" /><Relationship Type="http://schemas.openxmlformats.org/officeDocument/2006/relationships/notesSlide" Target="/ppt/notesSlides/notesSlide24.xml" Id="R664063addbc348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98c4e005d7498f" /><Relationship Type="http://schemas.openxmlformats.org/officeDocument/2006/relationships/notesSlide" Target="/ppt/notesSlides/notesSlide25.xml" Id="R4eb517415f03494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d74b954134345" /><Relationship Type="http://schemas.openxmlformats.org/officeDocument/2006/relationships/notesSlide" Target="/ppt/notesSlides/notesSlide26.xml" Id="Rc04dcb91dcfe4f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008a2ca8a4358" /><Relationship Type="http://schemas.openxmlformats.org/officeDocument/2006/relationships/notesSlide" Target="/ppt/notesSlides/notesSlide27.xml" Id="R8f850c445aa644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83C09C-874A-4C43-BF87-F83B0A2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EEBD1-B22E-443B-B073-9CC85C1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B8A66F"/>
                </a:solidFill>
              </a:defRPr>
            </a:pPr>
            <a:r>
              <a:rPr sz="180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78D77-C71A-41B4-A446-D5DF292F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048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8A8A84"/>
                </a:solidFill>
              </a:defRPr>
            </a:pPr>
            <a:r>
              <a:rPr sz="1425" b="0">
                <a:solidFill>
                  <a:srgbClr val="8A8A84"/>
                </a:solidFill>
              </a:rPr>
              <a:t>Implementação de IA | Maio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AF974-F822-4023-B11E-A7306A3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403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E414A-C8A8-4460-B3EE-A3EC6941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6450" b="0">
                <a:solidFill>
                  <a:srgbClr val="F7F3EA"/>
                </a:solidFill>
              </a:defRPr>
            </a:pPr>
            <a:r>
              <a:rPr sz="6450" b="0">
                <a:solidFill>
                  <a:srgbClr val="F7F3EA"/>
                </a:solidFill>
              </a:rPr>
              <a:t>Inteligência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6450" b="0">
                <a:solidFill>
                  <a:srgbClr val="F7F3EA"/>
                </a:solidFill>
              </a:defRPr>
            </a:pPr>
            <a:r>
              <a:rPr sz="6450" b="0">
                <a:solidFill>
                  <a:srgbClr val="F7F3EA"/>
                </a:solidFill>
              </a:rPr>
              <a:t>aplicada à venda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6450" b="0">
                <a:solidFill>
                  <a:srgbClr val="F7F3EA"/>
                </a:solidFill>
              </a:defRPr>
            </a:pPr>
            <a:r>
              <a:rPr sz="6450" b="0">
                <a:solidFill>
                  <a:srgbClr val="F7F3EA"/>
                </a:solidFill>
              </a:rPr>
              <a:t>de alto padrão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F475B-77C9-49DA-8F86-E570FF7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838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Como transformar conhecimento, velocidade e relacionamento em vantagem comercial acumulada.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9B349-1B3E-409F-B538-62DD024A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781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>
                <a:solidFill>
                  <a:srgbClr val="8A8A84"/>
                </a:solidFill>
              </a:defRPr>
            </a:pPr>
            <a:r>
              <a:rPr sz="1200" b="0">
                <a:solidFill>
                  <a:srgbClr val="8A8A84"/>
                </a:solidFill>
              </a:rPr>
              <a:t>Florianópolis como contexto. Dados como memoria. Relação como diferencial.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35820-140B-4129-A2D7-00AA064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3916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050" b="1">
                <a:solidFill>
                  <a:srgbClr val="F7F3EA"/>
                </a:solidFill>
              </a:defRPr>
            </a:pPr>
            <a:r>
              <a:rPr sz="1050" b="1">
                <a:solidFill>
                  <a:srgbClr val="F7F3EA"/>
                </a:solidFill>
              </a:rPr>
              <a:t>A ÚLTIMA IDEIA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5EAE0-1B7E-4F20-901B-A8AD126D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946785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</p:spTree>
    <p:extLst>
      <p:ext uri="{BB962C8B-B14F-4D97-AF65-F5344CB8AC3E}">
        <p14:creationId xmlns:p14="http://schemas.microsoft.com/office/powerpoint/2010/main" val="1861951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20249-D499-4921-9B69-D49EB9F0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9EDD7-DDD3-473B-B02A-DB9324C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92501-7BB1-432D-BD8A-433D6C2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TESE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85D73-2EDD-4F22-8166-1732E008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266B7-7F8C-4A4F-9CE1-8BE7164A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E6C68-9B86-4FAF-BB72-BDD03E8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211CB-5CAC-4FA9-8A6F-8AC67684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A IA não entra como ferramenta.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Entra como sistema operacional.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AFB53-4D6B-4834-AF7F-BFF90AA0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857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O objetivo e transformar conhecimento, velocidade e relacionamento em resultado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E1CC4-82B4-4103-A4E7-27E3187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2192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0">
                <a:solidFill>
                  <a:srgbClr val="F7F3EA"/>
                </a:solidFill>
              </a:defRPr>
            </a:pPr>
            <a:r>
              <a:rPr sz="4350" b="0">
                <a:solidFill>
                  <a:srgbClr val="F7F3EA"/>
                </a:solidFill>
              </a:rPr>
              <a:t>A vantagem não está em usar IA.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350" b="0">
                <a:solidFill>
                  <a:srgbClr val="F7F3EA"/>
                </a:solidFill>
              </a:defRPr>
            </a:pPr>
            <a:r>
              <a:rPr sz="4350" b="0">
                <a:solidFill>
                  <a:srgbClr val="F7F3EA"/>
                </a:solidFill>
              </a:rPr>
              <a:t>Está em fazer a operação aprender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350" b="0">
                <a:solidFill>
                  <a:srgbClr val="F7F3EA"/>
                </a:solidFill>
              </a:defRPr>
            </a:pPr>
            <a:r>
              <a:rPr sz="4350" b="0">
                <a:solidFill>
                  <a:srgbClr val="F7F3EA"/>
                </a:solidFill>
              </a:rPr>
              <a:t>e agir melhor todos os dias.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53549-9B9E-41BA-8836-2914699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386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8A8A84"/>
                </a:solidFill>
              </a:defRPr>
            </a:pPr>
            <a:r>
              <a:rPr sz="1350" b="0">
                <a:solidFill>
                  <a:srgbClr val="8A8A84"/>
                </a:solidFill>
              </a:rPr>
              <a:t>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A94CE-D128-4EDA-AF66-FDB9159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3149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8A8A84"/>
                </a:solidFill>
              </a:defRPr>
            </a:pPr>
            <a:r>
              <a:rPr sz="1350" b="0">
                <a:solidFill>
                  <a:srgbClr val="8A8A84"/>
                </a:solidFill>
              </a:rPr>
              <a:t>venda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08010-1925-4ECB-BB1E-CFA473FC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722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8A8A84"/>
                </a:solidFill>
              </a:defRPr>
            </a:pPr>
            <a:r>
              <a:rPr sz="1350" b="0">
                <a:solidFill>
                  <a:srgbClr val="8A8A84"/>
                </a:solidFill>
              </a:rPr>
              <a:t>gestáo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8F638-A7E6-4652-AB8F-61CEB384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5247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0">
                <a:solidFill>
                  <a:srgbClr val="8A8A84"/>
                </a:solidFill>
              </a:defRPr>
            </a:pPr>
            <a:r>
              <a:rPr sz="1350" b="0">
                <a:solidFill>
                  <a:srgbClr val="8A8A84"/>
                </a:solidFill>
              </a:rPr>
              <a:t>treinamento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A4F70-C061-4B96-A0BF-04459CD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4876800"/>
            <a:ext cx="152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B7D11-9D59-419D-BCA2-B35BC790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7150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3E18E-7575-4FAB-969E-1C8BA487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753100"/>
            <a:ext cx="2095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875" b="1">
                <a:solidFill>
                  <a:srgbClr val="F7F3EA"/>
                </a:solidFill>
              </a:defRPr>
            </a:pPr>
            <a:r>
              <a:rPr sz="1875" b="1">
                <a:solidFill>
                  <a:srgbClr val="F7F3EA"/>
                </a:solidFill>
              </a:rPr>
              <a:t>cérebro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1875" b="1">
                <a:solidFill>
                  <a:srgbClr val="F7F3EA"/>
                </a:solidFill>
              </a:defRPr>
            </a:pPr>
            <a:r>
              <a:rPr sz="1875" b="1">
                <a:solidFill>
                  <a:srgbClr val="F7F3EA"/>
                </a:solidFill>
              </a:rPr>
              <a:t>central</a:t>
            </a:r>
          </a:p>
        </p:txBody>
      </p:sp>
    </p:spTree>
    <p:extLst>
      <p:ext uri="{BB962C8B-B14F-4D97-AF65-F5344CB8AC3E}">
        <p14:creationId xmlns:p14="http://schemas.microsoft.com/office/powerpoint/2010/main" val="10909275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29735-5AC5-4442-9C28-90860A9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F4B72-652E-49A9-91B3-4A9E472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D72A7-F445-4B5B-A161-E6103A6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DIAGNÓSTICO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891AB-BE71-4F08-8F81-0A9F7A8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3388D-D40C-4EE9-9D43-1CBF394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79E4E-CA31-4529-A316-47E4053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CDDA3-818F-484A-B43A-430108B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120967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850" b="0">
                <a:solidFill>
                  <a:srgbClr val="11131A"/>
                </a:solidFill>
              </a:defRPr>
            </a:pPr>
            <a:r>
              <a:rPr sz="5850" b="0">
                <a:solidFill>
                  <a:srgbClr val="11131A"/>
                </a:solidFill>
              </a:rPr>
              <a:t>A inteligência existe.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850" b="0">
                <a:solidFill>
                  <a:srgbClr val="11131A"/>
                </a:solidFill>
              </a:defRPr>
            </a:pPr>
            <a:r>
              <a:rPr sz="5850" b="0">
                <a:solidFill>
                  <a:srgbClr val="11131A"/>
                </a:solidFill>
              </a:rPr>
              <a:t>Mas está dispersa.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A2A73-81D4-428F-80C5-FA03A6B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Nas reuniões, no WhatsApp, na experiência dos corretores, na memoria da liderança e nos materiais de produto.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7BC5B-1159-4DD1-83AD-D3927BAB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E384F-495E-45DC-BBFC-694AB628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0448F-B41C-43C7-B558-B986150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292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Conhecimento fragmentado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251F8-29E1-4F0D-A4D9-D8EEE111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102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Informações valiosas não viram método replicável.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766E4-3EA4-4E6A-A04F-0F72BAD8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722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27245-682D-48DC-9E9C-056062E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246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72416-5B1C-44A3-9298-03FE886A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5341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Canais ativados em sequência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BCC46-EBD6-4844-8CD6-40DF09A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9151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A operação executa um canal por vez.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14C2E-B147-4D56-87A7-4484812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771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88A16-A83D-4FD5-83CF-B8132E9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295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CF24F-E74F-47D2-AAA7-AEC9F84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639050"/>
            <a:ext cx="619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Venda dependente de 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A6349-CBA3-4130-90E7-7277CC5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0200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O corretor decide com base no que lembra no momento.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1E6D8-75DC-4BAC-91F0-7185E3BC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48300"/>
            <a:ext cx="6572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11131A"/>
                </a:solidFill>
              </a:defRPr>
            </a:pPr>
            <a:r>
              <a:rPr sz="4050" b="0">
                <a:solidFill>
                  <a:srgbClr val="11131A"/>
                </a:solidFill>
              </a:rPr>
              <a:t>O gargalo não 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11131A"/>
                </a:solidFill>
              </a:defRPr>
            </a:pPr>
            <a:r>
              <a:rPr sz="4050" b="0">
                <a:solidFill>
                  <a:srgbClr val="11131A"/>
                </a:solidFill>
              </a:rPr>
              <a:t>repertório.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11131A"/>
                </a:solidFill>
              </a:defRPr>
            </a:pPr>
            <a:r>
              <a:rPr sz="4050" b="0">
                <a:solidFill>
                  <a:srgbClr val="11131A"/>
                </a:solidFill>
              </a:rPr>
              <a:t>É transformar repertório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11131A"/>
                </a:solidFill>
              </a:defRPr>
            </a:pPr>
            <a:r>
              <a:rPr sz="4050" b="0">
                <a:solidFill>
                  <a:srgbClr val="11131A"/>
                </a:solidFill>
              </a:rPr>
              <a:t>em execução.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E189D-4950-4466-ADF9-6D2223D1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34000"/>
            <a:ext cx="76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</p:spTree>
    <p:extLst>
      <p:ext uri="{BB962C8B-B14F-4D97-AF65-F5344CB8AC3E}">
        <p14:creationId xmlns:p14="http://schemas.microsoft.com/office/powerpoint/2010/main" val="9905999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906A5-5B99-4D69-83D9-305D10D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9F05B-31F6-4661-9962-79E33BD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777C7-7133-46AC-935C-ECF01152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MUDANÇA DE LÓGICA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87B35-3821-4ACE-9D99-1D221E4A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52B7-6397-4862-BACF-54263C64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93F98-DE17-4537-B771-08FC0B5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4C73F-E4B8-4C22-BAEB-DFB03F63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2096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De produção manual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para inteligência em fluxo.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63FC4-2861-4EA8-9CF2-52F851F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IA precisa entrar nos workflows reais: reunião, campanha, lead, oferta, atendimento e aprendizado.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F0E27-2A6A-45F0-997B-F5DBD281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F7F3EA"/>
                </a:solidFill>
              </a:defRPr>
            </a:pPr>
            <a:r>
              <a:rPr sz="2175" b="1">
                <a:solidFill>
                  <a:srgbClr val="F7F3EA"/>
                </a:solidFill>
              </a:rPr>
              <a:t>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2CD34-5079-4FF5-8DCB-02140DF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626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B47D0-0FD0-4C41-8E08-98EC0941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53100"/>
            <a:ext cx="742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F7F3EA"/>
                </a:solidFill>
              </a:defRPr>
            </a:pPr>
            <a:r>
              <a:rPr sz="2550" b="0">
                <a:solidFill>
                  <a:srgbClr val="F7F3EA"/>
                </a:solidFill>
              </a:rPr>
              <a:t>cada tarefa nasce quase do 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E4013-3AD0-417A-B5A4-05CC03A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F7F3EA"/>
                </a:solidFill>
              </a:defRPr>
            </a:pPr>
            <a:r>
              <a:rPr sz="2175" b="1">
                <a:solidFill>
                  <a:srgbClr val="F7F3EA"/>
                </a:solidFill>
              </a:rPr>
              <a:t>Agora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2E089-3AFE-4721-96AC-1147A7E4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0675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5DE3A-7B2B-425E-9440-F8D6146B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858000"/>
            <a:ext cx="742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F7F3EA"/>
                </a:solidFill>
              </a:defRPr>
            </a:pPr>
            <a:r>
              <a:rPr sz="2550" b="0">
                <a:solidFill>
                  <a:srgbClr val="F7F3EA"/>
                </a:solidFill>
              </a:rPr>
              <a:t>cada tarefa nasce do cérebro da operação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C57FE-93E6-4970-B96F-213F6236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981950"/>
            <a:ext cx="1619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 b="1">
                <a:solidFill>
                  <a:srgbClr val="F7F3EA"/>
                </a:solidFill>
              </a:defRPr>
            </a:pPr>
            <a:r>
              <a:rPr sz="2175" b="1">
                <a:solidFill>
                  <a:srgbClr val="F7F3EA"/>
                </a:solidFill>
              </a:rPr>
              <a:t>Depois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2EEDB-C8EF-4980-BCF1-8261F345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1724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50053-6BF1-4CCF-9CC0-5111AB5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962900"/>
            <a:ext cx="742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F7F3EA"/>
                </a:solidFill>
              </a:defRPr>
            </a:pPr>
            <a:r>
              <a:rPr sz="2550" b="0">
                <a:solidFill>
                  <a:srgbClr val="F7F3EA"/>
                </a:solidFill>
              </a:rPr>
              <a:t>cada execução melhora a próxima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531F9-D972-4472-8A0A-1D8EBDB7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257800"/>
            <a:ext cx="152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43DF1-B741-4E9E-B0BE-F9803F3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4198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ciclo que aprende</a:t>
            </a:r>
          </a:p>
        </p:txBody>
      </p:sp>
    </p:spTree>
    <p:extLst>
      <p:ext uri="{BB962C8B-B14F-4D97-AF65-F5344CB8AC3E}">
        <p14:creationId xmlns:p14="http://schemas.microsoft.com/office/powerpoint/2010/main" val="682216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8A8CF-2938-435F-873C-C5824694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371F5-70CE-4B14-B8CF-79DC528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E60E4-2740-4B42-A200-70B4D5CD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EQUAÇÃO DE VALOR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F458F-55CA-4665-AAEB-88C5BB3D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F88D1-EF3B-4ACC-ABFB-CE37238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8F387-437E-4455-B178-A9D7F0B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C123D-729B-42D1-B635-12C6701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100" b="0">
                <a:solidFill>
                  <a:srgbClr val="11131A"/>
                </a:solidFill>
              </a:defRPr>
            </a:pPr>
            <a:r>
              <a:rPr sz="5100" b="0">
                <a:solidFill>
                  <a:srgbClr val="11131A"/>
                </a:solidFill>
              </a:rPr>
              <a:t>Resultado vem da multiplicação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100" b="0">
                <a:solidFill>
                  <a:srgbClr val="11131A"/>
                </a:solidFill>
              </a:defRPr>
            </a:pPr>
            <a:r>
              <a:rPr sz="5100" b="0">
                <a:solidFill>
                  <a:srgbClr val="11131A"/>
                </a:solidFill>
              </a:rPr>
              <a:t>de pequenas melhorias.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45F9D-1F6C-448F-9882-010CA6FD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04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Se a IA melhora várias etapas da venda ao mesmo tempo, o impacto deixa de ser linear.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70D1C-4921-497C-99F1-010D15BC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428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750" b="0">
                <a:solidFill>
                  <a:srgbClr val="11131A"/>
                </a:solidFill>
              </a:defRPr>
            </a:pPr>
            <a:r>
              <a:rPr sz="3750" b="0">
                <a:solidFill>
                  <a:srgbClr val="11131A"/>
                </a:solidFill>
              </a:rPr>
              <a:t>Leads x velocidade x preparo x oferta x timing x persuasão x aprendizado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E9DB6-60F5-480F-B4EF-DF6ECD5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67550"/>
            <a:ext cx="7048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F8C5F-F1BD-429E-9C2A-68D0747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7715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5E5A52"/>
                </a:solidFill>
              </a:defRPr>
            </a:pPr>
            <a:r>
              <a:rPr sz="2025" b="0">
                <a:solidFill>
                  <a:srgbClr val="5E5A52"/>
                </a:solidFill>
              </a:rPr>
              <a:t>Melhorar uma variável muda o funil. Melhorar todas cria uma operação que aprende enquanto vende.</a:t>
            </a:r>
          </a:p>
        </p:txBody>
      </p:sp>
    </p:spTree>
    <p:extLst>
      <p:ext uri="{BB962C8B-B14F-4D97-AF65-F5344CB8AC3E}">
        <p14:creationId xmlns:p14="http://schemas.microsoft.com/office/powerpoint/2010/main" val="13996304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711BA-AB95-4F6C-A631-0B362CD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F7D7F-AD23-4C74-8952-B590309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B8A66F"/>
                </a:solidFill>
              </a:defRPr>
            </a:pPr>
            <a:r>
              <a:rPr sz="1350" b="1">
                <a:solidFill>
                  <a:srgbClr val="B8A66F"/>
                </a:solidFill>
              </a:rPr>
              <a:t>BLOCO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E2047-3F36-4A20-84A6-5E9ED9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524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4EE38-B75F-4FAD-A562-69EAD34E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85725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Impacto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institucional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CE6CC-1CD1-40A1-8774-BF75C880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B. Living ganha velocidade de execução, escala de comunicação e inteligência centralizada.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48B62-E7FC-4F72-AB03-B4CBB6C7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948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</a:t>
            </a:r>
          </a:p>
        </p:txBody>
      </p:sp>
    </p:spTree>
    <p:extLst>
      <p:ext uri="{BB962C8B-B14F-4D97-AF65-F5344CB8AC3E}">
        <p14:creationId xmlns:p14="http://schemas.microsoft.com/office/powerpoint/2010/main" val="1436943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CAE47-D3FB-46E7-91A7-C5109E8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7328F-826C-4B61-9760-1E30725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AE92A-7C28-427B-B3F0-1BEB744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VELOCIDADE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09794-2B43-43B3-B520-435C1F59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4DD3B-42BB-410B-ADF1-3393A87D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0445F-0323-49B5-8F70-7E506509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17D92-9CAD-4892-AB45-FF09F62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550" b="0">
                <a:solidFill>
                  <a:srgbClr val="11131A"/>
                </a:solidFill>
              </a:defRPr>
            </a:pPr>
            <a:r>
              <a:rPr sz="5550" b="0">
                <a:solidFill>
                  <a:srgbClr val="11131A"/>
                </a:solidFill>
              </a:rPr>
              <a:t>Da operação linear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550" b="0">
                <a:solidFill>
                  <a:srgbClr val="11131A"/>
                </a:solidFill>
              </a:defRPr>
            </a:pPr>
            <a:r>
              <a:rPr sz="5550" b="0">
                <a:solidFill>
                  <a:srgbClr val="11131A"/>
                </a:solidFill>
              </a:rPr>
              <a:t>para a operação simultanea.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DA80A-CBFE-4026-A714-B3361D2E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819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O marketing deixa de ativar canais em fila e passa a operar em paralelo.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1EAF7-6345-42A0-844C-6BDED02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modelo tradicional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E8ECC-F0B4-4AF5-A5A0-F974D33D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9125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74899-0D67-424E-A57F-F0BDE929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476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5E5A52"/>
                </a:solidFill>
              </a:defRPr>
            </a:pPr>
            <a:r>
              <a:rPr sz="2100" b="0">
                <a:solidFill>
                  <a:srgbClr val="5E5A52"/>
                </a:solidFill>
              </a:rPr>
              <a:t>Instagram, depois LinkedIn,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5E5A52"/>
                </a:solidFill>
              </a:defRPr>
            </a:pPr>
            <a:r>
              <a:rPr sz="2100" b="0">
                <a:solidFill>
                  <a:srgbClr val="5E5A52"/>
                </a:solidFill>
              </a:rPr>
              <a:t>depois landing page,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5E5A52"/>
                </a:solidFill>
              </a:defRPr>
            </a:pPr>
            <a:r>
              <a:rPr sz="2100" b="0">
                <a:solidFill>
                  <a:srgbClr val="5E5A52"/>
                </a:solidFill>
              </a:rPr>
              <a:t>depois e-mail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2A8E5-9E9C-49D2-A266-CD259844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modelo com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CCA37-6C4B-4437-AE4A-5A2A383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7152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A99EC-B3F2-4346-8D13-618216D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258050"/>
            <a:ext cx="533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um conceito central desdobrado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simultaneamente em todos os canais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D158E-B4F9-4305-8FE6-C7E01048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862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A48AB-1A59-4D5C-AB54-7FF4E92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386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Instagram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A57E7-27BA-4616-8F6F-42D19DE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6482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85B72-8B14-4E83-8E68-0DA8AFA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7625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LinkedIn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C4F27-9076-44D6-A22E-7FBB1592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340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EB876-12B4-4435-9872-506DBD2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4864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YouTube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127E5-B434-4A78-A010-19A3025C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960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02D49-DC1A-4B14-9C27-99418678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103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Landing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82BF-3A7C-44C8-BFDF-50B761A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7818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0AB1A-9E1F-4F21-849C-C11CD96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9342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EF0E9-393A-4A08-8C53-84A52A8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5438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5C12F-449C-427D-B726-33A8755E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6581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11131A"/>
                </a:solidFill>
              </a:defRPr>
            </a:pPr>
            <a:r>
              <a:rPr sz="1275" b="1">
                <a:solidFill>
                  <a:srgbClr val="11131A"/>
                </a:solidFill>
              </a:rPr>
              <a:t>E-mail</a:t>
            </a:r>
          </a:p>
        </p:txBody>
      </p:sp>
    </p:spTree>
    <p:extLst>
      <p:ext uri="{BB962C8B-B14F-4D97-AF65-F5344CB8AC3E}">
        <p14:creationId xmlns:p14="http://schemas.microsoft.com/office/powerpoint/2010/main" val="446848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209FD8-CE46-41F9-91F5-7275E765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3D6DA-A3FC-4F28-930D-7DEB731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5AB65-E166-48D6-87B9-3AC51AA2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OMNICANALIDADE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EBFD0-3537-4147-93DC-785C4D90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358DB-45EA-450B-BB94-7767A30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00601-1DEB-41B0-8ACB-336775CA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A0A56-4F18-4A2C-AC18-F916E7F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12096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Um cérebro central.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Muitas superficies de comunicação.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2DA80-D15D-480B-8093-59D4B7A1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895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mesma tese vira conteúdo institucional, argumento comercial e material de campanha.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21245-6312-41AF-9F27-76E94186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0600"/>
            <a:ext cx="3429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11981-A536-40FE-9E81-93D384E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228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>
                <a:solidFill>
                  <a:srgbClr val="F7F3EA"/>
                </a:solidFill>
              </a:defRPr>
            </a:pPr>
            <a:r>
              <a:rPr sz="2550" b="1">
                <a:solidFill>
                  <a:srgbClr val="F7F3EA"/>
                </a:solidFill>
              </a:rPr>
              <a:t>B. Living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C6BBA-80C7-48A7-AD86-5CD5F3B8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769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>
                <a:solidFill>
                  <a:srgbClr val="B8A66F"/>
                </a:solidFill>
              </a:defRPr>
            </a:pPr>
            <a:r>
              <a:rPr sz="1275" b="0">
                <a:solidFill>
                  <a:srgbClr val="B8A66F"/>
                </a:solidFill>
              </a:rPr>
              <a:t>inteligência editorial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7972D-B676-42DA-9B4A-766E8463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D3590-F96F-4CE8-A31E-FCCCF0F1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482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C398F-D36D-4C0C-9269-0832D85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Narrativa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AB9A6-61EF-4550-A7B5-880DAC7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38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 que a marca acredita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35152-BA0B-48C6-81B8-9D2131D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96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E80D0-F0A6-4110-8C18-DFA8820A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958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D6517-3448-45D7-B51D-9860CB1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6482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B6F15-0A51-49EA-B873-80DC382F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45770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Formato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0AE28-E37F-43E5-832A-83FD9209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838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como aparece por canal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A7B00-36A6-498B-BB9F-BD7ADA4C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3DAAE-05A1-4C4A-AB8C-BF68468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008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72F8A-6F54-4693-AC32-E26DCCAC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9532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4CD54-A2EC-4388-97A8-6B934534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762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84ADB-EE1A-438D-A0FB-65B362C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onde o público prestá atenção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9E89C-DA66-4F1B-9D64-70A7BA2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1247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39525-1FEC-47E2-A6CC-F48F99C7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008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400497-9CEF-4ABC-87E8-C00D1F2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69532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BE969B-E8CA-4E4D-854F-7268AF3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762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Contexto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1E144D-3D88-464F-816E-C75FCB40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1437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momento do lead e do produto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0DB7A8-E834-4BC3-A1E6-60CF1EE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247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65104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A8E51-1380-496C-872E-A89DCCC7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DF689-93DD-4E16-96BB-C28F14F4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D428E-1A5E-497F-BD56-398B11BD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INFRAESTRUTURA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62FD4-3B56-4533-9B7F-3322C66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D1334-3CF1-4889-BE3C-399E5732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F370-81F4-4CE7-ACDF-89090507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156DC-6D84-43EE-9F15-3E54668D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12096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550" b="0">
                <a:solidFill>
                  <a:srgbClr val="11131A"/>
                </a:solidFill>
              </a:defRPr>
            </a:pPr>
            <a:r>
              <a:rPr sz="5550" b="0">
                <a:solidFill>
                  <a:srgbClr val="11131A"/>
                </a:solidFill>
              </a:rPr>
              <a:t>Landing pages deixam de ser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550" b="0">
                <a:solidFill>
                  <a:srgbClr val="11131A"/>
                </a:solidFill>
              </a:defRPr>
            </a:pPr>
            <a:r>
              <a:rPr sz="5550" b="0">
                <a:solidFill>
                  <a:srgbClr val="11131A"/>
                </a:solidFill>
              </a:rPr>
              <a:t>projeto especial.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7AEFA-A540-48FD-9F5F-24B40B5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800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Elas viram infraestrutura de campanha, segmentação e venda consultiva.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E1FA5-32BE-45A8-A170-D96400C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02D31-2072-469D-840E-49DF20A2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5CC7A-C1E2-41A3-922F-BC3C714A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816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Por projeto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F357D-AD92-4EBD-9150-64E5C0D1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62650"/>
            <a:ext cx="523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uma tese, uma narrativa e um CTA consultivo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9FD88-594B-4E4A-9684-252410EB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197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2BE7C-652D-4C11-A8F9-4C5CF7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721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5112E-4AE0-41C2-A38A-90F77045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816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Por corretor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9CF00-EF66-4EE6-9B0B-C85902C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62650"/>
            <a:ext cx="523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autoridade individual conectada ao método da B. Living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F7160-CF8B-4651-9326-FB46B28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86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B540E-56FF-4E30-B9CD-F535BFE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1E007-4855-4636-A3A5-F6A04319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4850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Por perfil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558AE-B8F5-4E0D-8680-1A27DB67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429500"/>
            <a:ext cx="523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morador, investidor, segunda residência e alta renda de fora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6B323-A515-4900-B297-501E4252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86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ACAB1-05BE-488D-B7A3-3E2EF2C3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39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9001B-DC28-4A56-839E-FC5C966F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4850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Por objetivo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FCB56-296E-4FC7-8A35-7A7B572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42950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captação, lançamento, evento, lista VIP ou oportunidade fora do radar</a:t>
            </a:r>
          </a:p>
        </p:txBody>
      </p:sp>
    </p:spTree>
    <p:extLst>
      <p:ext uri="{BB962C8B-B14F-4D97-AF65-F5344CB8AC3E}">
        <p14:creationId xmlns:p14="http://schemas.microsoft.com/office/powerpoint/2010/main" val="12959215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04891-7DB4-4FBD-8613-35CC580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31539-4C73-44BF-A45E-FD9FC355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6361-AF28-4FF1-B619-CF26A4E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COHORTS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47205-A66F-410A-95A4-2256845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009C-43EE-4155-B5B6-45321D7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40E82-BA36-4E5F-8FD1-4D4DA5B7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68E04-2161-449A-AC13-E54503CB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11131A"/>
                </a:solidFill>
              </a:defRPr>
            </a:pPr>
            <a:r>
              <a:rPr sz="5400" b="0">
                <a:solidFill>
                  <a:srgbClr val="11131A"/>
                </a:solidFill>
              </a:rPr>
              <a:t>A comunicação passa a ser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11131A"/>
                </a:solidFill>
              </a:defRPr>
            </a:pPr>
            <a:r>
              <a:rPr sz="5400" b="0">
                <a:solidFill>
                  <a:srgbClr val="11131A"/>
                </a:solidFill>
              </a:rPr>
              <a:t>desenhada por cohorts.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D5219-E059-40B3-873A-FC27BAA0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9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Cada público recebe narrativa, canal, oferta e cadencia compatíveis com seu momento.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F8341-CA8B-4AA0-8278-7DC9A14E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C1FCD-8287-4267-8099-0BC08B0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7680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11131A"/>
                </a:solidFill>
              </a:defRPr>
            </a:pPr>
            <a:r>
              <a:rPr sz="2025" b="0">
                <a:solidFill>
                  <a:srgbClr val="11131A"/>
                </a:solidFill>
              </a:rPr>
              <a:t>25-35: primeira decisão patrimonial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2666-D1E4-453F-A643-B49BB8B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5DCC6-7979-4C48-B30A-8CBE505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5785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11131A"/>
                </a:solidFill>
              </a:defRPr>
            </a:pPr>
            <a:r>
              <a:rPr sz="2025" b="0">
                <a:solidFill>
                  <a:srgbClr val="11131A"/>
                </a:solidFill>
              </a:rPr>
              <a:t>35-45: upgrade de vida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F67FA-08CF-49D2-909C-2088226E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5201B-3E16-418A-BED0-28C3E845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43890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11131A"/>
                </a:solidFill>
              </a:defRPr>
            </a:pPr>
            <a:r>
              <a:rPr sz="2025" b="0">
                <a:solidFill>
                  <a:srgbClr val="11131A"/>
                </a:solidFill>
              </a:rPr>
              <a:t>45-60: segurança e permanencia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855BA-5DAC-46BE-8C9D-E47AACEA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9956C-A1BC-48BB-815E-355A5943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21995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11131A"/>
                </a:solidFill>
              </a:defRPr>
            </a:pPr>
            <a:r>
              <a:rPr sz="2025" b="0">
                <a:solidFill>
                  <a:srgbClr val="11131A"/>
                </a:solidFill>
              </a:rPr>
              <a:t>Investidor: tese, timing e saída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D7ED4-D7E4-4C80-9EAB-19427A83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724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BE940-6911-4CC2-9673-2021D9A0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800100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11131A"/>
                </a:solidFill>
              </a:defRPr>
            </a:pPr>
            <a:r>
              <a:rPr sz="2025" b="0">
                <a:solidFill>
                  <a:srgbClr val="11131A"/>
                </a:solidFill>
              </a:rPr>
              <a:t>Morador: cidade, rotina e pertencimento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95963-532C-4C4F-9118-801F5E23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10200"/>
            <a:ext cx="762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4BFE1-CB00-4243-A042-B596089D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562600"/>
            <a:ext cx="54292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11131A"/>
                </a:solidFill>
              </a:defRPr>
            </a:pPr>
            <a:r>
              <a:rPr sz="3900" b="0">
                <a:solidFill>
                  <a:srgbClr val="11131A"/>
                </a:solidFill>
              </a:rPr>
              <a:t>A IA identifica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11131A"/>
                </a:solidFill>
              </a:defRPr>
            </a:pPr>
            <a:r>
              <a:rPr sz="3900" b="0">
                <a:solidFill>
                  <a:srgbClr val="11131A"/>
                </a:solidFill>
              </a:rPr>
              <a:t>onde cada grupo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11131A"/>
                </a:solidFill>
              </a:defRPr>
            </a:pPr>
            <a:r>
              <a:rPr sz="3900" b="0">
                <a:solidFill>
                  <a:srgbClr val="11131A"/>
                </a:solidFill>
              </a:rPr>
              <a:t>prestá atenção.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4B830-0313-4D1B-9136-69B1754D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562850"/>
            <a:ext cx="495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>
                <a:solidFill>
                  <a:srgbClr val="5E5A52"/>
                </a:solidFill>
              </a:defRPr>
            </a:pPr>
            <a:r>
              <a:rPr sz="1800" b="0">
                <a:solidFill>
                  <a:srgbClr val="5E5A52"/>
                </a:solidFill>
              </a:rPr>
              <a:t>Depois ajusta canal, copy, profundidade, frequência e CTA.</a:t>
            </a:r>
          </a:p>
        </p:txBody>
      </p:sp>
    </p:spTree>
    <p:extLst>
      <p:ext uri="{BB962C8B-B14F-4D97-AF65-F5344CB8AC3E}">
        <p14:creationId xmlns:p14="http://schemas.microsoft.com/office/powerpoint/2010/main" val="2113020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06C13-13FA-4BFA-A786-E7E1CD23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C3B8E-56A4-4558-A905-E8DDDB7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06847-6438-47AD-9F19-317A0566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REUNIÕES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B0AF9-9960-4F19-A48F-48439F71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57B30-A432-4F52-BABE-EACD2C24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FF30D-DC7D-47C7-A5D7-826CD23B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BE4BD-6A6D-439F-8CA3-1628170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Uma reunião deixa de terminar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quando acaba.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62548-1E1E-4F38-A2B8-C7C552C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981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O que foi discutido vira linha editorial, treinamento, material comercial e memoria institucional.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374F1-A4CC-404F-8CB1-37CD1E2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4381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Segunda-feira,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8h.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EF243-C34C-4092-A775-1BFE72A0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934200"/>
            <a:ext cx="3810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>
                <a:solidFill>
                  <a:srgbClr val="B8A66F"/>
                </a:solidFill>
              </a:defRPr>
            </a:pPr>
            <a:r>
              <a:rPr sz="1425" b="0">
                <a:solidFill>
                  <a:srgbClr val="B8A66F"/>
                </a:solidFill>
              </a:rPr>
              <a:t>treino. método. mercado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7CAF2-8AE1-4544-99F8-2A3BDC41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625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1694-70BB-4B13-8507-DEE1419B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149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65C9B-586C-42AB-97C0-3F3DDBE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244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Pauta vira conteúdo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E8434-36E7-4937-9035-59E2D999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054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post, video, pauta para corretor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0B20E-DFF4-41C5-AAAF-3C3EA57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86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2325B-1C3A-4B92-B19C-5BB11A0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438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76102-92B5-4A7C-A158-A49AADE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4840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Insight vira argumento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9CA14-48B5-4747-B765-11DD003F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objeções, bairro, produto,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29634-3E65-4B08-81C8-89A48E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4104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1A253-B620-455B-8577-AEE001F3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5628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FF666-9B44-4D2F-8E1D-9B0E2271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3723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Direcionamento vira método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884B8-8C27-431E-BFC6-2B985A8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7533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 feedback reaparece na rotina</a:t>
            </a:r>
          </a:p>
        </p:txBody>
      </p:sp>
    </p:spTree>
    <p:extLst>
      <p:ext uri="{BB962C8B-B14F-4D97-AF65-F5344CB8AC3E}">
        <p14:creationId xmlns:p14="http://schemas.microsoft.com/office/powerpoint/2010/main" val="5907963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E5784-EF96-4B1F-BF0D-83452978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057EA-0A3C-4F47-A0FD-867726FD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79E89-F2A6-45F0-A725-ADA6809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LEITURA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72D1B-A8FD-4349-B334-156E021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98215-A6FA-400C-A2B5-00CB9C6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E4696-4B89-4BE7-B664-90486087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41FC6-CE06-452D-95C0-D6E4DFD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11131A"/>
                </a:solidFill>
              </a:defRPr>
            </a:pPr>
            <a:r>
              <a:rPr sz="5400" b="0">
                <a:solidFill>
                  <a:srgbClr val="11131A"/>
                </a:solidFill>
              </a:rPr>
              <a:t>A empresa passa a enxergar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400" b="0">
                <a:solidFill>
                  <a:srgbClr val="11131A"/>
                </a:solidFill>
              </a:defRPr>
            </a:pPr>
            <a:r>
              <a:rPr sz="5400" b="0">
                <a:solidFill>
                  <a:srgbClr val="11131A"/>
                </a:solidFill>
              </a:rPr>
              <a:t>o negócio em tempo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77B57-D6AC-4D26-B341-6FF97093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9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Marketing, comercial e produto deixam de operar por sensação e passam a operar por leitura.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68287-EFE8-4ED6-9859-BD033F85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91200"/>
            <a:ext cx="95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D280C-ADDA-4ECE-90FF-875DB79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29300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Comercial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49EB3-9B32-4BD2-B6B9-07BD9B7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41985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E5A52"/>
                </a:solidFill>
              </a:defRPr>
            </a:pPr>
            <a:r>
              <a:rPr sz="1725" b="0">
                <a:solidFill>
                  <a:srgbClr val="5E5A52"/>
                </a:solidFill>
              </a:rPr>
              <a:t>leads, follow-ups, propostas, resposta e fechamento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762A1-2025-48D4-B925-8E260FA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91200"/>
            <a:ext cx="95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09A67-C940-4BF3-99D4-E8B064D9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829300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Mercado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A7AB9-3761-4E3E-92F4-26B97882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41985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E5A52"/>
                </a:solidFill>
              </a:defRPr>
            </a:pPr>
            <a:r>
              <a:rPr sz="1725" b="0">
                <a:solidFill>
                  <a:srgbClr val="5E5A52"/>
                </a:solidFill>
              </a:rPr>
              <a:t>bairros, projetos, construtoras e movimentos da cidade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CBE52-674F-410D-968F-3A6D564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791200"/>
            <a:ext cx="95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E4A15-C0B0-404D-BA5D-E5CA926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829300"/>
            <a:ext cx="342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Conteúdo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7EEDF-47A6-496B-9C98-776A13A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19850"/>
            <a:ext cx="361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5E5A52"/>
                </a:solidFill>
              </a:defRPr>
            </a:pPr>
            <a:r>
              <a:rPr sz="1725" b="0">
                <a:solidFill>
                  <a:srgbClr val="5E5A52"/>
                </a:solidFill>
              </a:rPr>
              <a:t>canais, temas, formatos, cohorts e oportunidades</a:t>
            </a:r>
          </a:p>
        </p:txBody>
      </p:sp>
    </p:spTree>
    <p:extLst>
      <p:ext uri="{BB962C8B-B14F-4D97-AF65-F5344CB8AC3E}">
        <p14:creationId xmlns:p14="http://schemas.microsoft.com/office/powerpoint/2010/main" val="12105062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97BE4-85A0-4F68-91E1-A7BF61C9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D9A5B-A7BB-45DE-BCC2-ED8543B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3D1B3-3DC8-4BBA-B8B1-081C74F8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CONSTRUTORAS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8247F-BAA9-42F0-8CF5-DD296F56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6BE2A-9455-4DF9-82C8-FD263A9D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D4B9B-2833-4337-87CE-10C452A7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473F-25DF-4016-A7F2-255CDD72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A B. Living pode virar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fonte de inteligência para parceiros.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6791-3CAA-4325-BC8F-1D6BFB8E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Não apenas vender unidades, mas devolver leitura qualificada de mercado.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BBE66-A79B-4493-AD72-A18E7ACA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62A16-3570-46C0-A942-B4204C13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FE5B4-F0E8-4A0B-998A-F99274A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00500"/>
            <a:ext cx="609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Objeções reais do comprador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F7D0B-F4BF-464B-9D79-A66CDC78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81500"/>
            <a:ext cx="609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 que trava, desperta interesse e precisa ser melhor explicado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03418-76A1-4130-8477-1CA2E0F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0B3D-1D46-4F04-A095-8A45D069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95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711E7-0A53-4F0C-A739-F20F7239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05400"/>
            <a:ext cx="609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Perfil de demanda por produto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23FF2-F558-4004-88CF-91A5609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86400"/>
            <a:ext cx="609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quem responde melhor a cada tese, região, vista ou estilo de vida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31D5C-F657-4B44-BB35-4ADE73E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484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ED1C4-0B3B-4FE9-95B0-9CE11DE9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4008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B06D9-C859-4198-82C0-6544C7B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10300"/>
            <a:ext cx="609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Feedback para lançamento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CB83F-7E25-47AE-9E6B-E2D5CD1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91300"/>
            <a:ext cx="609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leitura de público antes, durante e depois da campanha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CEBDD9-49A3-4B97-9E86-EEB300BC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3533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1A543-2150-4764-ACFC-CE116EE7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505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D519D-C0A5-482B-A76F-64B9B4CF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315200"/>
            <a:ext cx="609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Validação institucional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D6DF8-7583-4B49-A24E-D6131FFA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696200"/>
            <a:ext cx="609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relação com parceiros ganha inteligência registrada</a:t>
            </a:r>
          </a:p>
        </p:txBody>
      </p:sp>
    </p:spTree>
    <p:extLst>
      <p:ext uri="{BB962C8B-B14F-4D97-AF65-F5344CB8AC3E}">
        <p14:creationId xmlns:p14="http://schemas.microsoft.com/office/powerpoint/2010/main" val="9343208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C75CE-B779-41C7-BD85-437DE5F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534B3-7CD5-49CF-B54B-D009EF3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A5D25-B88E-4583-A0F3-B692E2DC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CAPTAÇÃO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3FD52-39B3-4FE8-9C14-36D7D91F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10BCA-955B-4EA5-B45B-8930A0BC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4697C-F1E1-4D14-8995-2F7FCD1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B6943-485F-40EE-9E37-83AD6095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IA tambem melhora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a captação de imóveis.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2029B-C143-4770-A961-1913EF7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838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A operação premium não cresce apenas vendendo melhor. Cresce captando melhor.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FD7D7-46AB-4F12-804E-E158CBED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CFEDF-E7BB-4D0E-84F8-562A0D4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CDDEE-3307-496C-9659-7F0869EC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4102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Mapear ativos estrategicos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FB537-E3B9-4161-84D2-CE06537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912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imóveis, regioes e proprietarios com aderência ao posicionamento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D77DA-7BD9-4623-9232-D221F30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483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85A1C-8B56-44CF-B708-80158B6C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00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2CA35-C79F-49C6-A324-D4FF74FB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102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Preparar argumento de captação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9C563-C22C-4534-A781-207E4F1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7912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por que a B. Living e a melhor leitura para aquele ativo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186E2-9EE6-4015-97F0-233ECB5A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723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65B2-B1B1-4A50-8D6D-AA331179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FC146-4017-4795-B6CA-CAE66F4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9342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Priorizar oportunidades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48163-3E9D-4C00-B530-2C53481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152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potencial comercial, institucional e de relacionamento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003DA-0341-47CB-84AB-36447D9B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9723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831E7-1960-4FF7-876A-648C2584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12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C1AF6-E360-406F-84F0-A74975A7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9342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Criar materiais para proprietarios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CD1B3-E633-4547-8D2B-4D05CD5D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152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relatórios, tese de preco, demanda e plano de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96697485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5EB865-1A45-48CD-AF43-C0CFCE8B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DA3C7-D796-4F5B-B40B-42D177A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C627A-7BA8-4240-ACAF-985A0F9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MARCA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72ED-FB94-4D16-91FB-6DDB97EB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881EB-F755-475E-B149-1BD1EB9D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D36EA-B03B-46EF-9553-BCC24FA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6C7B9-E3E8-4458-80D3-D6BF4F4D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700" b="0">
                <a:solidFill>
                  <a:srgbClr val="F7F3EA"/>
                </a:solidFill>
              </a:defRPr>
            </a:pPr>
            <a:r>
              <a:rPr sz="5700" b="0">
                <a:solidFill>
                  <a:srgbClr val="F7F3EA"/>
                </a:solidFill>
              </a:rPr>
              <a:t>Escalar sem diluir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700" b="0">
                <a:solidFill>
                  <a:srgbClr val="F7F3EA"/>
                </a:solidFill>
              </a:defRPr>
            </a:pPr>
            <a:r>
              <a:rPr sz="5700" b="0">
                <a:solidFill>
                  <a:srgbClr val="F7F3EA"/>
                </a:solidFill>
              </a:rPr>
              <a:t>o posicionamento.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16B9E-0026-4E72-B800-FA68B4CE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81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IA precisa proteger o tom premium da B. Living em cada conteúdo, resposta e material.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7BC3F-C0EB-4BBD-984F-DE09DA28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6096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F7F3EA"/>
                </a:solidFill>
              </a:defRPr>
            </a:pPr>
            <a:r>
              <a:rPr sz="4050" b="0">
                <a:solidFill>
                  <a:srgbClr val="F7F3EA"/>
                </a:solidFill>
              </a:rPr>
              <a:t>A sofisticação não está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4050" b="0">
                <a:solidFill>
                  <a:srgbClr val="F7F3EA"/>
                </a:solidFill>
              </a:defRPr>
            </a:pPr>
            <a:r>
              <a:rPr sz="4050" b="0">
                <a:solidFill>
                  <a:srgbClr val="F7F3EA"/>
                </a:solidFill>
              </a:rPr>
              <a:t>no adjetivo.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80AB1-01C7-4008-BA68-45EA6593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67600"/>
            <a:ext cx="6572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Está na leitura, no contexto, no silencio certo e na forma de conduzir a decisão.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187F4-148D-4BE3-8849-FC2ABADB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863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D719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E7060-F208-4031-B10B-9A657DA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7680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F7F3EA"/>
                </a:solidFill>
              </a:defRPr>
            </a:pPr>
            <a:r>
              <a:rPr sz="2025" b="0">
                <a:solidFill>
                  <a:srgbClr val="F7F3EA"/>
                </a:solidFill>
              </a:rPr>
              <a:t>evitar copy genérica de corretor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0A3DF-B35B-4119-AF17-51217D9E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3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2BAAC-E105-4889-ADE9-444839DC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245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F7F3EA"/>
                </a:solidFill>
              </a:defRPr>
            </a:pPr>
            <a:r>
              <a:rPr sz="2025" b="0">
                <a:solidFill>
                  <a:srgbClr val="F7F3EA"/>
                </a:solidFill>
              </a:rPr>
              <a:t>padronizar linguagem sem engessar pessoas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F7506-5A4B-4126-A183-1C6D7102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1818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9A0D1-EDA5-4ACC-916D-950FACED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97230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F7F3EA"/>
                </a:solidFill>
              </a:defRPr>
            </a:pPr>
            <a:r>
              <a:rPr sz="2025" b="0">
                <a:solidFill>
                  <a:srgbClr val="F7F3EA"/>
                </a:solidFill>
              </a:rPr>
              <a:t>corrigir exageros comerciais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19B12-290D-492D-90EB-9531986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2296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ADE4C-09B6-46AF-93F4-4B068CD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80200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>
                <a:solidFill>
                  <a:srgbClr val="F7F3EA"/>
                </a:solidFill>
              </a:defRPr>
            </a:pPr>
            <a:r>
              <a:rPr sz="2025" b="0">
                <a:solidFill>
                  <a:srgbClr val="F7F3EA"/>
                </a:solidFill>
              </a:rPr>
              <a:t>preservar quiet luxury em escala</a:t>
            </a:r>
          </a:p>
        </p:txBody>
      </p:sp>
    </p:spTree>
    <p:extLst>
      <p:ext uri="{BB962C8B-B14F-4D97-AF65-F5344CB8AC3E}">
        <p14:creationId xmlns:p14="http://schemas.microsoft.com/office/powerpoint/2010/main" val="20193092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DA5488-E5F1-471E-BA46-7D6C5E6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BED74-B032-439D-817B-77640A68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B8A66F"/>
                </a:solidFill>
              </a:defRPr>
            </a:pPr>
            <a:r>
              <a:rPr sz="1350" b="1">
                <a:solidFill>
                  <a:srgbClr val="B8A66F"/>
                </a:solidFill>
              </a:rPr>
              <a:t>BLOCO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1515F-E108-4F83-9EC7-D204452B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5240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578AB-DDC9-4A90-8151-06558A6A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85725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Impacto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13110-EA63-417D-8320-795FDCF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O corretor ganha repertório, timing, clareza de prioridade e precisão na conversa.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9D6C3-6854-4C9E-8E19-118AE078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94869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</a:t>
            </a:r>
          </a:p>
        </p:txBody>
      </p:sp>
    </p:spTree>
    <p:extLst>
      <p:ext uri="{BB962C8B-B14F-4D97-AF65-F5344CB8AC3E}">
        <p14:creationId xmlns:p14="http://schemas.microsoft.com/office/powerpoint/2010/main" val="3402210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F44EF-8ACF-4463-A7D4-2BD9896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73405-7F1D-4B2C-997E-BF28078B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49875-88BC-4511-BAEB-9482D1EC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FUNIL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D02FE-7510-42C3-ABB2-E96979C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B3410-93FF-403E-B96F-90CB08B0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32260-C551-46F7-B7DD-B8FCE74B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3236A-AE7A-4B15-882E-6D83A883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A IA interfere em todos os fatores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que movem a venda.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EF846-58C1-4E64-9EA1-33126EF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933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Não so gera mais lead. Aumenta a qualidade do trabalho sobre cada oportunidade.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FA224-F472-4ADE-9215-33445774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9C0F-6A6D-4D64-A81D-2A4890F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1131A"/>
                </a:solidFill>
              </a:defRPr>
            </a:pPr>
            <a:r>
              <a:rPr sz="1350" b="1">
                <a:solidFill>
                  <a:srgbClr val="11131A"/>
                </a:solidFill>
              </a:rPr>
              <a:t>Atrair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4A10A-DA1D-41A5-B8C9-8DF84CBB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172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ACDF5-51CE-4AD5-9E5E-55E63D7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08D80-AC02-414D-8726-41C0863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1131A"/>
                </a:solidFill>
              </a:defRPr>
            </a:pPr>
            <a:r>
              <a:rPr sz="1350" b="1">
                <a:solidFill>
                  <a:srgbClr val="11131A"/>
                </a:solidFill>
              </a:rPr>
              <a:t>Trabalhar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D2365-B2C5-48C1-A0AE-3B45421C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172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C9213-3E94-4E6B-AF01-B8E2DA07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6F712-8087-461D-A090-8589C80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1131A"/>
                </a:solidFill>
              </a:defRPr>
            </a:pPr>
            <a:r>
              <a:rPr sz="1350" b="1">
                <a:solidFill>
                  <a:srgbClr val="11131A"/>
                </a:solidFill>
              </a:rPr>
              <a:t>Preparar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AD342-26FD-48DD-ACED-EF528675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172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32A64-C240-4900-ACB1-7399E22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B2722-9A5C-44E9-906F-1E258DEB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1131A"/>
                </a:solidFill>
              </a:defRPr>
            </a:pPr>
            <a:r>
              <a:rPr sz="1350" b="1">
                <a:solidFill>
                  <a:srgbClr val="11131A"/>
                </a:solidFill>
              </a:rPr>
              <a:t>Ofertar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3FB00-7BE6-47ED-9A8F-398FF59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172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48BBC-49D3-4B80-81B5-6A0253E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7C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188501-A862-4F12-8339-485273E6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11131A"/>
                </a:solidFill>
              </a:defRPr>
            </a:pPr>
            <a:r>
              <a:rPr sz="1350" b="1">
                <a:solidFill>
                  <a:srgbClr val="11131A"/>
                </a:solidFill>
              </a:rPr>
              <a:t>Negociar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F0798-32DF-4C8A-8EB2-954E039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6172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D9573-A591-40BB-BAAB-9CF94AE5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943600"/>
            <a:ext cx="1676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1E6E8-C4C5-41BE-BF50-1CF6746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60769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>
                <a:solidFill>
                  <a:srgbClr val="F7F3EA"/>
                </a:solidFill>
              </a:defRPr>
            </a:pPr>
            <a:r>
              <a:rPr sz="1350" b="1">
                <a:solidFill>
                  <a:srgbClr val="F7F3EA"/>
                </a:solidFill>
              </a:rPr>
              <a:t>Aprender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4EF07-DAF5-430F-902B-3D33F20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24750"/>
            <a:ext cx="1066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600" b="0">
                <a:solidFill>
                  <a:srgbClr val="11131A"/>
                </a:solidFill>
              </a:defRPr>
            </a:pPr>
            <a:r>
              <a:rPr sz="3600" b="0">
                <a:solidFill>
                  <a:srgbClr val="11131A"/>
                </a:solidFill>
              </a:rPr>
              <a:t>Cada etapa gera dados.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600" b="0">
                <a:solidFill>
                  <a:srgbClr val="11131A"/>
                </a:solidFill>
              </a:defRPr>
            </a:pPr>
            <a:r>
              <a:rPr sz="3600" b="0">
                <a:solidFill>
                  <a:srgbClr val="11131A"/>
                </a:solidFill>
              </a:rPr>
              <a:t>Cada dado melhora a próxima decisão.</a:t>
            </a:r>
          </a:p>
        </p:txBody>
      </p:sp>
    </p:spTree>
    <p:extLst>
      <p:ext uri="{BB962C8B-B14F-4D97-AF65-F5344CB8AC3E}">
        <p14:creationId xmlns:p14="http://schemas.microsoft.com/office/powerpoint/2010/main" val="190366194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44F75-327E-46F9-9063-96B29611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D38F-9E1C-4C53-B51B-15C73074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1E33-64F8-4EC4-A26E-62C0AE2B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LEAD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37927-006D-451D-8D90-E179FD88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504CA-4928-48D0-8E07-7BF2AF9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F7004-3059-4B45-B1DE-0C9CE564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970E5-DCEE-4CCB-B73C-C9B6935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Reduzir a latência comercial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vira métrica central.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C844B-E9CF-4F87-8459-23AC4357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0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Tempo entre sinal e ação: lead entrou, sistema entendeu, priorizou e sugeriu o próximo passo.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FF497-1EF2-4FA4-B045-FFE155C7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3810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400" b="0">
                <a:solidFill>
                  <a:srgbClr val="F7F3EA"/>
                </a:solidFill>
              </a:defRPr>
            </a:pPr>
            <a:r>
              <a:rPr sz="5400" b="0">
                <a:solidFill>
                  <a:srgbClr val="F7F3EA"/>
                </a:solidFill>
              </a:rPr>
              <a:t>Latência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49C8A-77B1-4D4E-9E78-AA92A68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818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e o tempo que separa oportunidade de 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69D67-20FE-443A-871D-A7CF783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33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F6A39-C4F6-439F-BDC8-96A30C09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863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C9492-20B5-4A18-B0F0-F96BE753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958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Classificar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83DC6-9542-4F31-B4D0-3AC9155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2768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origem, perfil e temperatura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B287B-189E-45B5-B76A-90571D8D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76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A4540-2C20-4334-8EA8-82C6EF7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293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3975B-5F9B-408F-A3A2-80C44DAD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388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Responder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BE70D-5F44-4D74-BB32-2A6BBB97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com contexto e tom correto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3C297-ED8C-4FF8-B9D6-D4BEE4A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19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C1422-667E-44BA-BA2F-9720FCD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3723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832CA-1D8E-4545-BFAB-B4FA702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1818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Acionar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98AC7-23ED-452D-BFD7-B3643C3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628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corretor certo e próximo passo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0B982-B44C-4EFA-A704-2DD4E5F8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182100"/>
            <a:ext cx="914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McKinsey, 2026: fluxos agentivos em home builders melhoraram tempo de resposta a leads em mais de 90%.</a:t>
            </a:r>
          </a:p>
        </p:txBody>
      </p:sp>
    </p:spTree>
    <p:extLst>
      <p:ext uri="{BB962C8B-B14F-4D97-AF65-F5344CB8AC3E}">
        <p14:creationId xmlns:p14="http://schemas.microsoft.com/office/powerpoint/2010/main" val="14758104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14F3DF-CB58-4A81-BA24-5E090563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5FEF-2850-4062-8107-058540E3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F20E7-FDD8-42DC-86EB-2244C501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ROTEAMENTO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8F1FD-6ED4-4706-9B7C-4236E06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4182A-5EE3-4A78-80E9-4D8DD07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18899-E483-44AE-9EE5-D16502D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6E9E4-5271-4B47-9624-1F28F7BA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O lead certo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para o corretor certo.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4E7AB-E5FC-4E20-9C55-A5CA702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952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A IA cruza perfil do cliente, histórico do corretor, tipo de imóvel e chance de avanco.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80B7-A609-4094-8C16-DF503C2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77D67-1F7E-4B29-8276-CB90CFF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81E44-91EA-4AB4-AB9A-070F1A6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484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investidor, morador, cliente de fora, segunda residência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9CD8E-DD1F-42F4-AFF8-54E80C82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150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E4185-1485-4798-B483-188FD5E7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5785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Produto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3F5B0-340E-4F6D-9348-567EBC4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484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bairro, ticket, construtora, tese, liquidez, estilo de vida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C5476-B231-4FA4-B8DB-87AF69D4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150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4CFA0-FF69-4708-BF92-4F7F73AC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5785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Corretor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07032-909C-41AC-8B56-8A54621F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484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histórico, região, resposta, relacionamento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73D8E-CEDE-4697-9BF1-E0D76CE2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7150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24922-EE01-4530-B9C4-328CF475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657850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31A"/>
                </a:solidFill>
              </a:defRPr>
            </a:pPr>
            <a:r>
              <a:rPr sz="2250" b="1">
                <a:solidFill>
                  <a:srgbClr val="11131A"/>
                </a:solidFill>
              </a:rPr>
              <a:t>Distribuição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8A352-233F-4E8A-88A3-7EA355C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2484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quem tem mais chance de trabalhar com qualidade</a:t>
            </a:r>
          </a:p>
        </p:txBody>
      </p:sp>
    </p:spTree>
    <p:extLst>
      <p:ext uri="{BB962C8B-B14F-4D97-AF65-F5344CB8AC3E}">
        <p14:creationId xmlns:p14="http://schemas.microsoft.com/office/powerpoint/2010/main" val="12238276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90625-32E7-46BB-BBF4-8C8BFF79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17BD4-483C-414A-8407-7A30441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573F4-0BFE-41CB-8348-D4D3D1A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WHATSAPP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E155D-06E5-49ED-A081-31E1542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0B8DD-33AB-4B93-8CB5-2AC0482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984A3-E999-4284-9DC2-32D5FE1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3E032-D282-47BC-8A9A-22E5042A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A resposta no WhatsApp passa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950" b="0">
                <a:solidFill>
                  <a:srgbClr val="F7F3EA"/>
                </a:solidFill>
              </a:defRPr>
            </a:pPr>
            <a:r>
              <a:rPr sz="4950" b="0">
                <a:solidFill>
                  <a:srgbClr val="F7F3EA"/>
                </a:solidFill>
              </a:rPr>
              <a:t>a carregar o cérebro da empresa.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F840A-0777-419B-AA80-D2333C9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942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Cliente, imóvel, cidade, marca, histórico e timing entram na mesma sugestáo.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82544-2E02-4D8F-AED7-A3F95BB3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68580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100" b="0">
                <a:solidFill>
                  <a:srgbClr val="F7F3EA"/>
                </a:solidFill>
              </a:defRPr>
            </a:pPr>
            <a:r>
              <a:rPr sz="5100" b="0">
                <a:solidFill>
                  <a:srgbClr val="F7F3EA"/>
                </a:solidFill>
              </a:rPr>
              <a:t>Não e uma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5100" b="0">
                <a:solidFill>
                  <a:srgbClr val="F7F3EA"/>
                </a:solidFill>
              </a:defRPr>
            </a:pPr>
            <a:r>
              <a:rPr sz="5100" b="0">
                <a:solidFill>
                  <a:srgbClr val="F7F3EA"/>
                </a:solidFill>
              </a:rPr>
              <a:t>resposta bonita.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641B3-3665-4D0D-B07B-DD8A2239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86650"/>
            <a:ext cx="857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75" b="0">
                <a:solidFill>
                  <a:srgbClr val="F7F3EA"/>
                </a:solidFill>
              </a:defRPr>
            </a:pPr>
            <a:r>
              <a:rPr sz="2475" b="0">
                <a:solidFill>
                  <a:srgbClr val="F7F3EA"/>
                </a:solidFill>
              </a:rPr>
              <a:t>É uma resposta com contexto comercial,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475" b="0">
                <a:solidFill>
                  <a:srgbClr val="F7F3EA"/>
                </a:solidFill>
              </a:defRPr>
            </a:pPr>
            <a:r>
              <a:rPr sz="2475" b="0">
                <a:solidFill>
                  <a:srgbClr val="F7F3EA"/>
                </a:solidFill>
              </a:rPr>
              <a:t>leitura de mercado e padrão de marca.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85686-8D50-4CAC-8EE1-E708EE8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578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09719-1A2E-4F12-883B-FA1673A4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53050"/>
            <a:ext cx="299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F7F3EA"/>
                </a:solidFill>
              </a:defRPr>
            </a:pPr>
            <a:r>
              <a:rPr sz="1275" b="1">
                <a:solidFill>
                  <a:srgbClr val="F7F3EA"/>
                </a:solidFill>
              </a:rPr>
              <a:t>tom do corretor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EC8B8-7FEE-4BE4-85B8-0D76AF1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436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206A-990D-4499-9BB0-491170E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096000"/>
            <a:ext cx="299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F7F3EA"/>
                </a:solidFill>
              </a:defRPr>
            </a:pPr>
            <a:r>
              <a:rPr sz="1275" b="1">
                <a:solidFill>
                  <a:srgbClr val="F7F3EA"/>
                </a:solidFill>
              </a:rPr>
              <a:t>visão da liderança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5591E-2F65-4C2C-BED0-8F085A45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7056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36E4D-FEC1-4DFD-9BC0-A260FE27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838950"/>
            <a:ext cx="299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F7F3EA"/>
                </a:solidFill>
              </a:defRPr>
            </a:pPr>
            <a:r>
              <a:rPr sz="1275" b="1">
                <a:solidFill>
                  <a:srgbClr val="F7F3EA"/>
                </a:solidFill>
              </a:rPr>
              <a:t>perfil do cliente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FFE14-C2EF-464C-AA2B-87D3EE72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467600"/>
            <a:ext cx="335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F0F9C-870B-4FE2-9929-F408FADF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581900"/>
            <a:ext cx="299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F7F3EA"/>
                </a:solidFill>
              </a:defRPr>
            </a:pPr>
            <a:r>
              <a:rPr sz="1275" b="1">
                <a:solidFill>
                  <a:srgbClr val="F7F3EA"/>
                </a:solidFill>
              </a:rPr>
              <a:t>tese do imóvel</a:t>
            </a:r>
          </a:p>
        </p:txBody>
      </p:sp>
    </p:spTree>
    <p:extLst>
      <p:ext uri="{BB962C8B-B14F-4D97-AF65-F5344CB8AC3E}">
        <p14:creationId xmlns:p14="http://schemas.microsoft.com/office/powerpoint/2010/main" val="689705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F0DD4-C941-40F9-8E3B-81B9E57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F26A5-C541-4203-8AF8-18D6517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48C74-D8AF-47DF-8654-5E2B422A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OFERTA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B55F9-45B9-44EA-851E-3744822D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E9475-A766-46AB-B037-53DF627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88A1D-21FB-4245-9C0B-6823A29E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20DBE-290E-4F67-B770-1EB5908F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A oferta deixa de ser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envio de imóvel.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B1D3D-0ABA-4D07-B69C-821B0537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9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Ela passa a ser construcao de tese: por que esse produto, para essa pessoa, neste momento.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846AA-284B-4BBB-AF60-01CB7C72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01A2B-9D5C-4D78-BC83-684335BA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A1A73-36A0-453D-ADAD-926F6C5F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552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2A8F3-0FEB-421A-8F25-D5B0235D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o que acontece na cidade, na região e no mercado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63505-4FD7-4CD8-9701-D599AE3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4E0C3-91E6-4469-9082-6771D0AB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1817B-DD0E-457C-9E27-3F45585A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43550"/>
            <a:ext cx="552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Aderência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C2B54-5413-4B3B-8584-A9C8D20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por que o imóvel faz sentido para aquele cliente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739C3-CC29-4782-86D6-5FAEC66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AF25A-4E24-4E00-8F2B-127CDFE8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7FBA0-BDE3-4110-A670-2C2522E8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10400"/>
            <a:ext cx="552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Timing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EEC6F-6C48-419D-A0CC-2A9E2F1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914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quando abordar, nutrir e avançar para proposta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E399E-33D6-4707-9163-EA2BC81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6486A-181A-4523-89F1-C097756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853D7-5BF9-4F7B-AC34-FC6BCA1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10400"/>
            <a:ext cx="552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Persuasão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5E721-8E97-4E8A-9907-AD59719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914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qual argumento usar sem perder confiança</a:t>
            </a:r>
          </a:p>
        </p:txBody>
      </p:sp>
    </p:spTree>
    <p:extLst>
      <p:ext uri="{BB962C8B-B14F-4D97-AF65-F5344CB8AC3E}">
        <p14:creationId xmlns:p14="http://schemas.microsoft.com/office/powerpoint/2010/main" val="147686276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67D40-844C-487B-A371-4CEDCC20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2B0A5-0C16-4F03-ADA8-8D65813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002C2-AC11-436C-9B27-FD0DAC4B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VOICE OF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A177A-6AB2-4244-AF82-4C75CC5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58A49-231D-44D9-9F9C-20B13AC2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D197E-990E-46F9-8499-5B842051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D7E92-6E75-4B0D-83DA-D068FEAA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Cada objeção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vira inteligência.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B4C24-CC93-454B-8D6C-6DD01C96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048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voz do cliente retroalimenta conteúdo, oferta, treinamento, produto e argumento comercial.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ABA31-CC7B-4AD8-8F22-4DA42DD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60960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F7F3EA"/>
                </a:solidFill>
              </a:defRPr>
            </a:pPr>
            <a:r>
              <a:rPr sz="3900" b="0">
                <a:solidFill>
                  <a:srgbClr val="F7F3EA"/>
                </a:solidFill>
              </a:rPr>
              <a:t>Dúvidas, silêncios,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F7F3EA"/>
                </a:solidFill>
              </a:defRPr>
            </a:pPr>
            <a:r>
              <a:rPr sz="3900" b="0">
                <a:solidFill>
                  <a:srgbClr val="F7F3EA"/>
                </a:solidFill>
              </a:rPr>
              <a:t>objeções e comparações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3900" b="0">
                <a:solidFill>
                  <a:srgbClr val="F7F3EA"/>
                </a:solidFill>
              </a:defRPr>
            </a:pPr>
            <a:r>
              <a:rPr sz="3900" b="0">
                <a:solidFill>
                  <a:srgbClr val="F7F3EA"/>
                </a:solidFill>
              </a:rPr>
              <a:t>deixam rastros.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54A12-94C9-44BD-B351-69A341C0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5044A-C6E8-42A9-A957-298E5C6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5515B-F9BA-4E5E-8DB6-8E6AFEAE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0"/>
            <a:ext cx="590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Se muitos perguntam sobre liquidez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5283C-2632-416E-8973-83A471E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2450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vira conteúdo, script e material de apoio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F9282-F9CB-4AA3-8E7B-79775C95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24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C121E-7263-4732-9BC4-1249FC07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477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544E0-D0BC-4EF0-A96F-757284F2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90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Se muitos perguntam sobre preco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73010-64C6-4275-AA80-C2514269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vira tese comparativa e defesa de valor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73E25-74A8-4761-8CC3-CD4E1241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4676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00D65-BFF3-4F57-B909-B8CEDD4E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6200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52803-9F9A-4A8C-9AFE-D790DBD7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429500"/>
            <a:ext cx="590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Se muitos perguntam sobre bairro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7F821-89DC-47BA-B0A8-570D4D5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81050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vira inteligência urbana e regua de nutricao</a:t>
            </a:r>
          </a:p>
        </p:txBody>
      </p:sp>
    </p:spTree>
    <p:extLst>
      <p:ext uri="{BB962C8B-B14F-4D97-AF65-F5344CB8AC3E}">
        <p14:creationId xmlns:p14="http://schemas.microsoft.com/office/powerpoint/2010/main" val="86659043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53D6B-EB26-4799-BAF5-33EC201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D3578-A675-4CF3-B40C-5B468A50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FFE10-E179-4328-85AC-AF1B0059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TREINAMENTO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C3C1C-AA1A-415D-B165-71CE7341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E16ED-1592-4F19-BC59-E8E90EF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FA15E-EF9A-4618-9BC6-949AA62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B1912-2337-4E9C-8138-47F93BB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A empresa vira escola.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Mas uma escola alimentada pelo mercado.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4298B-3228-4899-945D-570C8C12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Feedback, onboarding e simulação deixam de ser eventos e passam a operar dentro do fluxo.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ED17A-8113-4033-8BCC-E7D1F8E8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60D70-4EC0-4B1E-9426-02EDE798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5ED56-5753-4E54-BCF4-1F204133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Simular clientes por projeto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1B07B-D73A-4FB4-8B1C-01D9F65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perfis, objeções e níveis de consciencia diferentes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906F6-DF42-4298-B82B-2D8CD13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3C8FA-ACA0-42F1-A998-C13D6902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6CDE5-A758-4D08-9ECD-B4B8E166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4355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Dar nota e orientar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98FBE-E755-459C-BA2A-0E3FB058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tom, clareza, contexto, pergunta, oferta e fechamento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A0D06-D85F-49C9-972C-A6D49C78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556C1-FFCA-40DA-AB12-0988315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DC9D0-89AD-401C-BA65-1E3604D2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104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Usar histórico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31F75-59E9-4463-8ECA-0584FD0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914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treinar com padroes já vistos em conversas e vendas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DF815-3F9E-4524-B17B-DD291DA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98439-857A-40B9-96B2-F1C6C711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B9C29-9121-40F9-9026-C934198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104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11131A"/>
                </a:solidFill>
              </a:defRPr>
            </a:pPr>
            <a:r>
              <a:rPr sz="2025" b="1">
                <a:solidFill>
                  <a:srgbClr val="11131A"/>
                </a:solidFill>
              </a:rPr>
              <a:t>Aplicar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5EBE3-E6E6-4356-B681-6E71E104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914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5E5A52"/>
                </a:solidFill>
              </a:defRPr>
            </a:pPr>
            <a:r>
              <a:rPr sz="1500" b="0">
                <a:solidFill>
                  <a:srgbClr val="5E5A52"/>
                </a:solidFill>
              </a:rPr>
              <a:t>o ajuste aparece no momento em que o corretor precisa usar</a:t>
            </a:r>
          </a:p>
        </p:txBody>
      </p:sp>
    </p:spTree>
    <p:extLst>
      <p:ext uri="{BB962C8B-B14F-4D97-AF65-F5344CB8AC3E}">
        <p14:creationId xmlns:p14="http://schemas.microsoft.com/office/powerpoint/2010/main" val="182116942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CAA5A-5B81-48D1-8FD2-1201856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D2F9C-E299-44BD-8C37-F471CA42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A17D6-6508-429C-B7E5-5122A62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RELACIONAMENTO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53E39-2EE3-49CA-A5A0-E0D6941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FCBAB-AB89-4192-8F3B-5C0534DC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5A52C-7540-46A2-9708-86939925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78BB1-C452-423F-9C8D-18782CC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A experiência premium continua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depois do lead.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0E945-8E59-4C47-AE02-D6DC501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00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A IA trabalha nos bastidores para a relação parecer mais humana, não menos.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A838A-62DB-4225-8090-9A90203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D50A9-00A5-455A-8029-D519CDAE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7FCE-0BA9-46B0-BF31-0FA41B54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Memoria de relacionamento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91B6A-704B-4B0F-8595-0BF570D5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preferências, família, interesses, datas, histórico e estilo de vida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84115-4F9E-4184-949F-5E040288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88149-60CB-4AAC-A3BF-5F1C5C2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340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BF001-7332-4FB8-8F6E-99C570DB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54355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Reabordagem com sentido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A724B-C2A8-4BEF-8577-0CA2E33C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92455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contexto certo, no momento certo, pelo motivo certo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82C6C-606E-4C78-8381-5299A188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845DF-4EAB-43F1-AA4F-2B93DB8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7F039-2093-4BF8-85BB-0F54AA6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0104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Curadoria individual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4FC95-1965-4B50-9C0B-092D7308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3914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notícias, teses, oportunidades e conteúdos compatíveis com o perfil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C762F-7265-4A87-B5B4-284C08B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04850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C0B96-02C8-419C-B8E7-1A59359F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009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43F03-2498-4961-98BA-D8BC058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10400"/>
            <a:ext cx="5429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Presenca sem ansiedade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037752-FE70-41BF-B343-EA206309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914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00" b="0">
                <a:solidFill>
                  <a:srgbClr val="8A8A84"/>
                </a:solidFill>
              </a:defRPr>
            </a:pPr>
            <a:r>
              <a:rPr sz="1500" b="0">
                <a:solidFill>
                  <a:srgbClr val="8A8A84"/>
                </a:solidFill>
              </a:rPr>
              <a:t>a marca permanece próxima sem parecer popular ou agressiva</a:t>
            </a:r>
          </a:p>
        </p:txBody>
      </p:sp>
    </p:spTree>
    <p:extLst>
      <p:ext uri="{BB962C8B-B14F-4D97-AF65-F5344CB8AC3E}">
        <p14:creationId xmlns:p14="http://schemas.microsoft.com/office/powerpoint/2010/main" val="2558764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46A23-D181-44E3-B61C-2AE74010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ADE46-84AA-4235-A668-26A86D37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A787-A4AE-4B9F-95F1-DA037847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ARQUITETURA E GOVERNANÇA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5D723-C75F-43C5-8F0F-EAAC16B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9E476-0218-4614-98C8-2C407F63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9FFCD-0AC0-44B4-B0EF-DB467A8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CC934-D63E-4070-9A7C-F6C54FB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Para gerar resultado,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F7F3EA"/>
                </a:solidFill>
              </a:defRPr>
            </a:pPr>
            <a:r>
              <a:rPr sz="5250" b="0">
                <a:solidFill>
                  <a:srgbClr val="F7F3EA"/>
                </a:solidFill>
              </a:rPr>
              <a:t>a IA precisa de controle.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2014B-2501-4C87-8EFD-02CEBE3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47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8A8A84"/>
                </a:solidFill>
              </a:defRPr>
            </a:pPr>
            <a:r>
              <a:rPr sz="1875" b="0">
                <a:solidFill>
                  <a:srgbClr val="8A8A84"/>
                </a:solidFill>
              </a:rPr>
              <a:t>Dados, método, integrações, permissões e revisão humana entram no desenho desde o início.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E309F-1638-4FA4-A2DA-3439CB1E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B046-9468-4866-B39F-3CA4356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Factual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F956E-E8AC-44FA-9FAC-20E93BFF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8A8A84"/>
                </a:solidFill>
              </a:defRPr>
            </a:pPr>
            <a:r>
              <a:rPr sz="1575" b="0">
                <a:solidFill>
                  <a:srgbClr val="8A8A84"/>
                </a:solidFill>
              </a:rPr>
              <a:t>fonte de verdade: imóveis, clientes, histórico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9374D-3248-478B-9435-DFD0AF75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9F1C5-06BD-47B4-AC3F-F5F85E2C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Orquestração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7A82F-6C74-46C9-99AD-33C9DB2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959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8A8A84"/>
                </a:solidFill>
              </a:defRPr>
            </a:pPr>
            <a:r>
              <a:rPr sz="1575" b="0">
                <a:solidFill>
                  <a:srgbClr val="8A8A84"/>
                </a:solidFill>
              </a:rPr>
              <a:t>planejá prioridade, gatilhos, escalonamento e próximos passos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6E9AD-A713-4F6F-A1A3-B95B8E2F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342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B668E-10D4-4229-A0F3-D6D5DE5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80542-9851-41D2-A99C-69FF060A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4008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8A8A84"/>
                </a:solidFill>
              </a:defRPr>
            </a:pPr>
            <a:r>
              <a:rPr sz="1575" b="0">
                <a:solidFill>
                  <a:srgbClr val="8A8A84"/>
                </a:solidFill>
              </a:rPr>
              <a:t>executa tarefas com aprovação humana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45FD7-7D75-4A61-8EB5-C32289B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009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4B90F-4EB9-4732-A2E4-B6E7309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0565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Controle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0D4C1-679E-4DF4-BAC2-6774539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1247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8A8A84"/>
                </a:solidFill>
              </a:defRPr>
            </a:pPr>
            <a:r>
              <a:rPr sz="1575" b="0">
                <a:solidFill>
                  <a:srgbClr val="8A8A84"/>
                </a:solidFill>
              </a:rPr>
              <a:t>permissão, auditoria, segurança e avaliação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9756F-EE53-4BE0-882B-AA38992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248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ABAF8-C6E5-4575-81FE-A5498DEC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10500"/>
            <a:ext cx="2952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Blocos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4CDEB-ACEC-4C38-8830-CE02C7E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82955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 b="0">
                <a:solidFill>
                  <a:srgbClr val="8A8A84"/>
                </a:solidFill>
              </a:defRPr>
            </a:pPr>
            <a:r>
              <a:rPr sz="1575" b="0">
                <a:solidFill>
                  <a:srgbClr val="8A8A84"/>
                </a:solidFill>
              </a:rPr>
              <a:t>rotinas reutilizaveis para reunião, lead, oferta e objeção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F3052-884B-485D-BE54-635D7EB6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8001000"/>
            <a:ext cx="4572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F7F3EA"/>
                </a:solidFill>
              </a:defRPr>
            </a:pPr>
            <a:r>
              <a:rPr sz="2550" b="0">
                <a:solidFill>
                  <a:srgbClr val="F7F3EA"/>
                </a:solidFill>
              </a:rPr>
              <a:t>No alto padrão, inteligência sem discrição vira risco.</a:t>
            </a:r>
          </a:p>
        </p:txBody>
      </p:sp>
    </p:spTree>
    <p:extLst>
      <p:ext uri="{BB962C8B-B14F-4D97-AF65-F5344CB8AC3E}">
        <p14:creationId xmlns:p14="http://schemas.microsoft.com/office/powerpoint/2010/main" val="70586996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A99B0-4F16-4F6A-B7D5-F0EF05F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E2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D93A-B42F-4BF6-BD44-633A588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11131A"/>
                </a:solidFill>
              </a:defRPr>
            </a:pPr>
            <a:r>
              <a:rPr sz="1650" b="1">
                <a:solidFill>
                  <a:srgbClr val="11131A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F117B-3B8B-48CE-B619-909C88E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5E5A52"/>
                </a:solidFill>
              </a:defRPr>
            </a:pPr>
            <a:r>
              <a:rPr sz="1200" b="1">
                <a:solidFill>
                  <a:srgbClr val="5E5A52"/>
                </a:solidFill>
              </a:rPr>
              <a:t>IMPLANTAÇÃO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2EE06-FD69-48C8-B411-EDF65FF3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5E5A52"/>
                </a:solidFill>
              </a:defRPr>
            </a:pPr>
            <a:r>
              <a:rPr sz="900" b="0">
                <a:solidFill>
                  <a:srgbClr val="5E5A52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3E7A3-E233-4649-B43B-D41F5BD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5E5A52"/>
                </a:solidFill>
              </a:defRPr>
            </a:pPr>
            <a:r>
              <a:rPr sz="975" b="0">
                <a:solidFill>
                  <a:srgbClr val="5E5A52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ECFC7-58B0-4885-98FE-271E67B3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87F74-1717-4270-A75A-91430509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2096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Implementar por fases,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5250" b="0">
                <a:solidFill>
                  <a:srgbClr val="11131A"/>
                </a:solidFill>
              </a:defRPr>
            </a:pPr>
            <a:r>
              <a:rPr sz="5250" b="0">
                <a:solidFill>
                  <a:srgbClr val="11131A"/>
                </a:solidFill>
              </a:rPr>
              <a:t>com resultado visível em cada etapa.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F10D1-C45C-4C2A-ABC4-DF1B134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5E5A52"/>
                </a:solidFill>
              </a:defRPr>
            </a:pPr>
            <a:r>
              <a:rPr sz="1875" b="0">
                <a:solidFill>
                  <a:srgbClr val="5E5A52"/>
                </a:solidFill>
              </a:rPr>
              <a:t>Começar simples, gerar confiança e aumentar profundidade com dados reais.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4835C-6E07-4B32-80E7-8CFE8E3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F8F3A-C0A2-403D-BC56-A004E36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340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11131A"/>
                </a:solidFill>
              </a:defRPr>
            </a:pPr>
            <a:r>
              <a:rPr sz="2100" b="1">
                <a:solidFill>
                  <a:srgbClr val="11131A"/>
                </a:solidFill>
              </a:rPr>
              <a:t>1. Fundação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BC0A4-49B7-46F9-BA51-370B3D5E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3246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materiais, tom, imóveis, base inicial e regras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6875B-E628-4378-8812-080D56B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150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93AF2-51A5-4D99-8005-9DD07AFE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340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11131A"/>
                </a:solidFill>
              </a:defRPr>
            </a:pPr>
            <a:r>
              <a:rPr sz="2100" b="1">
                <a:solidFill>
                  <a:srgbClr val="11131A"/>
                </a:solidFill>
              </a:rPr>
              <a:t>2. Piloto comercial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04BE1-DCEB-42DE-BF0D-BD0C0D73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3246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WhatsApp, leads, simulações, reuniões e ofertas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CA98-6308-45DB-A7F3-6309414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150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C6864-6284-43F9-958C-433AB0D0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340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11131A"/>
                </a:solidFill>
              </a:defRPr>
            </a:pPr>
            <a:r>
              <a:rPr sz="2100" b="1">
                <a:solidFill>
                  <a:srgbClr val="11131A"/>
                </a:solidFill>
              </a:rPr>
              <a:t>3. Marketing omnicanal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DA59B-4521-4475-9334-E8BCCC5E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246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landing pages, cohorts, conteúdos e campanhas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9C5DC-60A0-4376-B501-48E4CA3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71500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9925F-12A1-41ED-B49F-B779D4C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57340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11131A"/>
                </a:solidFill>
              </a:defRPr>
            </a:pPr>
            <a:r>
              <a:rPr sz="2100" b="1">
                <a:solidFill>
                  <a:srgbClr val="11131A"/>
                </a:solidFill>
              </a:rPr>
              <a:t>4. 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BD4AC-9F70-463D-B61C-71D7730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324600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0">
                <a:solidFill>
                  <a:srgbClr val="5E5A52"/>
                </a:solidFill>
              </a:defRPr>
            </a:pPr>
            <a:r>
              <a:rPr sz="1650" b="0">
                <a:solidFill>
                  <a:srgbClr val="5E5A52"/>
                </a:solidFill>
              </a:rPr>
              <a:t>dashboards, métricas, feedback e melhoria continua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A93C5-6AB1-427E-A39D-DD0FDB3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05850"/>
            <a:ext cx="933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1">
                <a:solidFill>
                  <a:srgbClr val="11131A"/>
                </a:solidFill>
              </a:defRPr>
            </a:pPr>
            <a:r>
              <a:rPr sz="2100" b="1">
                <a:solidFill>
                  <a:srgbClr val="11131A"/>
                </a:solidFill>
              </a:rPr>
              <a:t>Em 3 meses: prioridade no dia do corretor. Em 1 ano: venda mais previsível.</a:t>
            </a:r>
          </a:p>
        </p:txBody>
      </p:sp>
    </p:spTree>
    <p:extLst>
      <p:ext uri="{BB962C8B-B14F-4D97-AF65-F5344CB8AC3E}">
        <p14:creationId xmlns:p14="http://schemas.microsoft.com/office/powerpoint/2010/main" val="10451106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E229F-A012-4F8A-ABA0-F139F325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AD3F1-EA02-4C69-94A7-D090000F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B8A66F"/>
                </a:solidFill>
              </a:defRPr>
            </a:pPr>
            <a:r>
              <a:rPr sz="1650" b="1">
                <a:solidFill>
                  <a:srgbClr val="B8A66F"/>
                </a:solidFill>
              </a:rPr>
              <a:t>B. 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A35BF-E093-4F91-91D5-48F4371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28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1">
                <a:solidFill>
                  <a:srgbClr val="B8A66F"/>
                </a:solidFill>
              </a:defRPr>
            </a:pPr>
            <a:r>
              <a:rPr sz="1200" b="1">
                <a:solidFill>
                  <a:srgbClr val="B8A66F"/>
                </a:solidFill>
              </a:rPr>
              <a:t>FECHAMENTO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B1D0D-39CC-40D8-88DA-3AA10BD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58350"/>
            <a:ext cx="533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00" b="0">
                <a:solidFill>
                  <a:srgbClr val="8A8A84"/>
                </a:solidFill>
              </a:defRPr>
            </a:pPr>
            <a:r>
              <a:rPr sz="900" b="0">
                <a:solidFill>
                  <a:srgbClr val="8A8A84"/>
                </a:solidFill>
              </a:rPr>
              <a:t>A ÚLTIMA IDEIA | Implementação de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AE190-C685-4556-934B-516B212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583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975" b="0">
                <a:solidFill>
                  <a:srgbClr val="8A8A84"/>
                </a:solidFill>
              </a:defRPr>
            </a:pPr>
            <a:r>
              <a:rPr sz="975" b="0">
                <a:solidFill>
                  <a:srgbClr val="8A8A84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6B072-6644-4978-8DBF-76C92B15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76BC8-2C54-4E28-B270-8D640EDE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72390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6150" b="0">
                <a:solidFill>
                  <a:srgbClr val="F7F3EA"/>
                </a:solidFill>
              </a:defRPr>
            </a:pPr>
            <a:r>
              <a:rPr sz="6150" b="0">
                <a:solidFill>
                  <a:srgbClr val="F7F3EA"/>
                </a:solidFill>
              </a:rPr>
              <a:t>A IA não substitui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6150" b="0">
                <a:solidFill>
                  <a:srgbClr val="F7F3EA"/>
                </a:solidFill>
              </a:defRPr>
            </a:pPr>
            <a:r>
              <a:rPr sz="6150" b="0">
                <a:solidFill>
                  <a:srgbClr val="F7F3EA"/>
                </a:solidFill>
              </a:rPr>
              <a:t>a relação.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D904C-5D07-449C-B6A3-AC584AD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72390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550" b="0">
                <a:solidFill>
                  <a:srgbClr val="B8A66F"/>
                </a:solidFill>
              </a:defRPr>
            </a:pPr>
            <a:r>
              <a:rPr sz="5550" b="0">
                <a:solidFill>
                  <a:srgbClr val="B8A66F"/>
                </a:solidFill>
              </a:rPr>
              <a:t>Ela prepara melhor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5550" b="0">
                <a:solidFill>
                  <a:srgbClr val="B8A66F"/>
                </a:solidFill>
              </a:defRPr>
            </a:pPr>
            <a:r>
              <a:rPr sz="5550" b="0">
                <a:solidFill>
                  <a:srgbClr val="B8A66F"/>
                </a:solidFill>
              </a:rPr>
              <a:t>cada relação.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F105E-0B1E-4C82-98DC-2436F048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3657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A99F3-ED3A-4175-AC16-3F4D81BF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627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0">
                <a:solidFill>
                  <a:srgbClr val="F7F3EA"/>
                </a:solidFill>
              </a:defRPr>
            </a:pPr>
            <a:r>
              <a:rPr sz="2550" b="0">
                <a:solidFill>
                  <a:srgbClr val="F7F3EA"/>
                </a:solidFill>
              </a:rPr>
              <a:t>No alto padrão, quem entende antes decide melhor.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2899E-91EA-4358-B733-3262AE66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34200"/>
            <a:ext cx="838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>
                <a:solidFill>
                  <a:srgbClr val="8A8A84"/>
                </a:solidFill>
              </a:defRPr>
            </a:pPr>
            <a:r>
              <a:rPr sz="2100" b="0">
                <a:solidFill>
                  <a:srgbClr val="8A8A84"/>
                </a:solidFill>
              </a:rPr>
              <a:t>E quem organiza melhor sua inteligência vende com mais precisão.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F056E-4DC9-409B-B9B3-C61958F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>
                <a:solidFill>
                  <a:srgbClr val="B8A66F"/>
                </a:solidFill>
              </a:defRPr>
            </a:pPr>
            <a:r>
              <a:rPr sz="1500" b="1">
                <a:solidFill>
                  <a:srgbClr val="B8A66F"/>
                </a:solidFill>
              </a:rPr>
              <a:t>Referências verificadas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29B1E-9973-444E-B76D-2B08787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67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FB3A7-E7EB-4138-8FAB-969C79F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194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5B080-CFE1-4A07-86FC-2375A996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028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McKinsey, 2026: agentic AI in real estate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2E545-2726-44E2-945C-4002B806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409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A6FB7-2240-4904-99FD-F945E167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29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7A5A0-8185-419A-8D37-4230B705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9814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6BA35-F280-4BCA-97EA-7423078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790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McKinsey, 2023: generative AI in real estate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D2113-AEE8-4E9D-8308-BD7AC884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171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0A115-8F39-43E7-9A5C-5F3893C2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91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99E74-73B7-4321-9FC0-5C48FF05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7434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23F3C-51EB-4324-9F36-6D11C48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552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Salesforce, 2026: State of Sales, 7th Edition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043AD-43D6-471F-AA99-39DFB720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33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D26E2-DCB9-4642-A81E-900654F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53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690E1-9408-418C-AD0D-7AECD3A2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5054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6C949-D2AA-42F7-82C0-5DEE27D9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314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NAR, 2025: REALTORS Technology Survey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C1376-15C5-4965-8681-137DBEA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695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442CD-2517-4945-8CE3-81245737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1">
                <a:solidFill>
                  <a:srgbClr val="B8A66F"/>
                </a:solidFill>
              </a:defRPr>
            </a:pPr>
            <a:r>
              <a:rPr sz="1275" b="1">
                <a:solidFill>
                  <a:srgbClr val="B8A66F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A9352-AB2E-4911-900D-34C191F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674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66F"/>
          </a:solidFill>
          <a:ln xmlns:a="http://schemas.openxmlformats.org/drawingml/2006/main" w="0">
            <a:solidFill>
              <a:srgbClr val="B8A6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00409-3251-4B24-A0BC-6DF85D8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07695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1">
                <a:solidFill>
                  <a:srgbClr val="F7F3EA"/>
                </a:solidFill>
              </a:defRPr>
            </a:pPr>
            <a:r>
              <a:rPr sz="2025" b="1">
                <a:solidFill>
                  <a:srgbClr val="F7F3EA"/>
                </a:solidFill>
              </a:rPr>
              <a:t>ANPD, 2026: sandbox de IA e proteção de dados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F47D3-4991-48E6-8C8E-7EDAADF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45795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0883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2026-05-04T11:01:46.0000000Z</dcterms:created>
  <dcterms:modified xsi:type="dcterms:W3CDTF">2026-05-04T11:01:46.0000000Z</dcterms:modified>
</coreProperties>
</file>